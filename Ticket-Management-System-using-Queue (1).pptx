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4630400" cy="8229600"/>
  <p:notesSz cx="8229600" cy="14630400"/>
  <p:embeddedFontLst>
    <p:embeddedFont>
      <p:font typeface="Bitter" panose="020B0604020202020204" charset="0"/>
      <p:regular r:id="rId10"/>
    </p:embeddedFont>
    <p:embeddedFont>
      <p:font typeface="Consolas" panose="020B0609020204030204" pitchFamily="49"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70" y="-10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49286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Start by explaining what ticket systems are—they're used everywhere: banks, hospitals, DMV, customer service centers • Key benefits: fairness (first come, first served), reduces chaos and overcrowding, keeps things organized • Transition to the connection with queues: a ticket system is a perfect real-world example of how a queue data structure works • Emphasize that queues maintain order—customers arrive, get a ticket, and are served in sequence • This is why we're learning about queues: they solve actual problems we see in everyday life
</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We have four key learning objectives for this session
• System Design – We'll create an efficient customer flow management system using queue data structure. This teaches you how to solve real-world problems with the right data structure.
• FIFO Principle – You'll understand and implement the First-In-First-Out principle hands-on. This is fundamental to how queues work.
• DSA Application – We're taking data structures and algorithms concepts from theory and applying them to a practical, real-world scenario you can relate to.
• C++ Programming – By the end, you'll have built a complete menu-driven program that brings all these concepts together with solid coding practices.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0B1012"/>
          </a:solidFill>
          <a:ln/>
        </p:spPr>
      </p:sp>
      <p:sp>
        <p:nvSpPr>
          <p:cNvPr id="3" name="Shape 1"/>
          <p:cNvSpPr/>
          <p:nvPr/>
        </p:nvSpPr>
        <p:spPr>
          <a:xfrm>
            <a:off x="0" y="0"/>
            <a:ext cx="14630400" cy="8229600"/>
          </a:xfrm>
          <a:prstGeom prst="rect">
            <a:avLst/>
          </a:prstGeom>
          <a:solidFill>
            <a:srgbClr val="1C1D1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sv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3408878"/>
            <a:ext cx="10500479" cy="708779"/>
          </a:xfrm>
          <a:prstGeom prst="rect">
            <a:avLst/>
          </a:prstGeom>
          <a:noFill/>
          <a:ln/>
        </p:spPr>
        <p:txBody>
          <a:bodyPr wrap="none" lIns="0" tIns="0" rIns="0" bIns="0" rtlCol="0" anchor="t"/>
          <a:lstStyle/>
          <a:p>
            <a:pPr marL="0" indent="0" algn="l">
              <a:lnSpc>
                <a:spcPts val="5550"/>
              </a:lnSpc>
              <a:buNone/>
            </a:pPr>
            <a:r>
              <a:rPr lang="en-US" sz="4450" b="1" dirty="0">
                <a:solidFill>
                  <a:srgbClr val="E1E5CD"/>
                </a:solidFill>
                <a:latin typeface="Outfit Bold" pitchFamily="34" charset="0"/>
                <a:ea typeface="Outfit Bold" pitchFamily="34" charset="-122"/>
                <a:cs typeface="Outfit Bold" pitchFamily="34" charset="-120"/>
              </a:rPr>
              <a:t>Ticket Management System using Queue</a:t>
            </a:r>
            <a:endParaRPr lang="en-US" sz="4450" dirty="0"/>
          </a:p>
        </p:txBody>
      </p:sp>
      <p:sp>
        <p:nvSpPr>
          <p:cNvPr id="3" name="Text 1"/>
          <p:cNvSpPr/>
          <p:nvPr/>
        </p:nvSpPr>
        <p:spPr>
          <a:xfrm>
            <a:off x="793790" y="4457819"/>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C2C4B5"/>
                </a:solidFill>
                <a:latin typeface="Bitter" pitchFamily="34" charset="0"/>
                <a:ea typeface="Bitter" pitchFamily="34" charset="-122"/>
                <a:cs typeface="Bitter" pitchFamily="34" charset="-120"/>
              </a:rPr>
              <a:t>A practical implementation of data structures and algorithms in C++</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1647" y="625197"/>
            <a:ext cx="5331976" cy="480655"/>
          </a:xfrm>
          <a:prstGeom prst="rect">
            <a:avLst/>
          </a:prstGeom>
          <a:noFill/>
          <a:ln/>
        </p:spPr>
        <p:txBody>
          <a:bodyPr wrap="none" lIns="0" tIns="0" rIns="0" bIns="0" rtlCol="0" anchor="t"/>
          <a:lstStyle/>
          <a:p>
            <a:pPr marL="0" indent="0" algn="l">
              <a:lnSpc>
                <a:spcPts val="3750"/>
              </a:lnSpc>
              <a:buNone/>
            </a:pPr>
            <a:r>
              <a:rPr lang="en-US" sz="3000" b="1" dirty="0">
                <a:solidFill>
                  <a:srgbClr val="E1E5CD"/>
                </a:solidFill>
                <a:latin typeface="Outfit Bold" pitchFamily="34" charset="0"/>
                <a:ea typeface="Outfit Bold" pitchFamily="34" charset="-122"/>
                <a:cs typeface="Outfit Bold" pitchFamily="34" charset="-120"/>
              </a:rPr>
              <a:t>Introduction to Ticket Systems</a:t>
            </a:r>
            <a:endParaRPr lang="en-US" sz="3000" dirty="0"/>
          </a:p>
        </p:txBody>
      </p:sp>
      <p:sp>
        <p:nvSpPr>
          <p:cNvPr id="3" name="Text 1"/>
          <p:cNvSpPr/>
          <p:nvPr/>
        </p:nvSpPr>
        <p:spPr>
          <a:xfrm>
            <a:off x="791647" y="1431727"/>
            <a:ext cx="13047107" cy="710565"/>
          </a:xfrm>
          <a:prstGeom prst="rect">
            <a:avLst/>
          </a:prstGeom>
          <a:noFill/>
          <a:ln/>
        </p:spPr>
        <p:txBody>
          <a:bodyPr wrap="square" lIns="0" tIns="0" rIns="0" bIns="0" rtlCol="0" anchor="t"/>
          <a:lstStyle/>
          <a:p>
            <a:pPr marL="0" indent="0" algn="l">
              <a:lnSpc>
                <a:spcPts val="2750"/>
              </a:lnSpc>
              <a:buNone/>
            </a:pPr>
            <a:r>
              <a:rPr lang="en-US" sz="1850" dirty="0">
                <a:solidFill>
                  <a:srgbClr val="C2C4B5"/>
                </a:solidFill>
                <a:latin typeface="Bitter" pitchFamily="34" charset="0"/>
                <a:ea typeface="Bitter" pitchFamily="34" charset="-122"/>
                <a:cs typeface="Bitter" pitchFamily="34" charset="-120"/>
              </a:rPr>
              <a:t>Ticket systems are fundamental in service-based environments worldwide, ensuring fair and orderly processing of customers or tasks. They prevent confusion, reduce overcrowding, and maintain operational sequence.</a:t>
            </a:r>
            <a:endParaRPr lang="en-US" sz="1850" dirty="0"/>
          </a:p>
        </p:txBody>
      </p:sp>
      <p:sp>
        <p:nvSpPr>
          <p:cNvPr id="4" name="Text 2"/>
          <p:cNvSpPr/>
          <p:nvPr/>
        </p:nvSpPr>
        <p:spPr>
          <a:xfrm>
            <a:off x="791647" y="2325529"/>
            <a:ext cx="13047107" cy="284202"/>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latin typeface="Bitter" pitchFamily="34" charset="0"/>
                <a:ea typeface="Bitter" pitchFamily="34" charset="-122"/>
                <a:cs typeface="Bitter" pitchFamily="34" charset="-120"/>
              </a:rPr>
              <a:t>The queue data structure perfectly models this real-world scenario, maintaining the natural order of customer arrivals and service requirements.</a:t>
            </a:r>
            <a:endParaRPr lang="en-US" sz="1500" dirty="0"/>
          </a:p>
        </p:txBody>
      </p:sp>
      <p:sp>
        <p:nvSpPr>
          <p:cNvPr id="5" name="Shape 3"/>
          <p:cNvSpPr/>
          <p:nvPr/>
        </p:nvSpPr>
        <p:spPr>
          <a:xfrm>
            <a:off x="791647" y="2792968"/>
            <a:ext cx="6442115" cy="2090499"/>
          </a:xfrm>
          <a:prstGeom prst="roundRect">
            <a:avLst>
              <a:gd name="adj" fmla="val 1380"/>
            </a:avLst>
          </a:prstGeom>
          <a:solidFill>
            <a:srgbClr val="3B3C3E"/>
          </a:solidFill>
          <a:ln/>
        </p:spPr>
      </p:sp>
      <p:sp>
        <p:nvSpPr>
          <p:cNvPr id="6" name="Shape 4"/>
          <p:cNvSpPr/>
          <p:nvPr/>
        </p:nvSpPr>
        <p:spPr>
          <a:xfrm>
            <a:off x="983813" y="2985135"/>
            <a:ext cx="576739" cy="576739"/>
          </a:xfrm>
          <a:prstGeom prst="roundRect">
            <a:avLst>
              <a:gd name="adj" fmla="val 15853073"/>
            </a:avLst>
          </a:prstGeom>
          <a:solidFill>
            <a:srgbClr val="D0DAA9"/>
          </a:solidFill>
          <a:ln/>
        </p:spPr>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42405" y="3143607"/>
            <a:ext cx="259556" cy="259556"/>
          </a:xfrm>
          <a:prstGeom prst="rect">
            <a:avLst/>
          </a:prstGeom>
        </p:spPr>
      </p:pic>
      <p:sp>
        <p:nvSpPr>
          <p:cNvPr id="8" name="Text 5"/>
          <p:cNvSpPr/>
          <p:nvPr/>
        </p:nvSpPr>
        <p:spPr>
          <a:xfrm>
            <a:off x="983813" y="3724751"/>
            <a:ext cx="2403277" cy="300395"/>
          </a:xfrm>
          <a:prstGeom prst="rect">
            <a:avLst/>
          </a:prstGeom>
          <a:noFill/>
          <a:ln/>
        </p:spPr>
        <p:txBody>
          <a:bodyPr wrap="none" lIns="0" tIns="0" rIns="0" bIns="0" rtlCol="0" anchor="t"/>
          <a:lstStyle/>
          <a:p>
            <a:pPr marL="0" indent="0" algn="l">
              <a:lnSpc>
                <a:spcPts val="2350"/>
              </a:lnSpc>
              <a:buNone/>
            </a:pPr>
            <a:r>
              <a:rPr lang="en-US" sz="1850" b="1" dirty="0">
                <a:solidFill>
                  <a:srgbClr val="C2C4B5"/>
                </a:solidFill>
                <a:latin typeface="Outfit Bold" pitchFamily="34" charset="0"/>
                <a:ea typeface="Outfit Bold" pitchFamily="34" charset="-122"/>
                <a:cs typeface="Outfit Bold" pitchFamily="34" charset="-120"/>
              </a:rPr>
              <a:t>System Design</a:t>
            </a:r>
            <a:endParaRPr lang="en-US" sz="1850" dirty="0"/>
          </a:p>
        </p:txBody>
      </p:sp>
      <p:sp>
        <p:nvSpPr>
          <p:cNvPr id="9" name="Text 6"/>
          <p:cNvSpPr/>
          <p:nvPr/>
        </p:nvSpPr>
        <p:spPr>
          <a:xfrm>
            <a:off x="983813" y="4122896"/>
            <a:ext cx="6057781" cy="568404"/>
          </a:xfrm>
          <a:prstGeom prst="rect">
            <a:avLst/>
          </a:prstGeom>
          <a:noFill/>
          <a:ln/>
        </p:spPr>
        <p:txBody>
          <a:bodyPr wrap="square" lIns="0" tIns="0" rIns="0" bIns="0" rtlCol="0" anchor="t"/>
          <a:lstStyle/>
          <a:p>
            <a:pPr marL="0" indent="0" algn="l">
              <a:lnSpc>
                <a:spcPts val="2200"/>
              </a:lnSpc>
              <a:buNone/>
            </a:pPr>
            <a:r>
              <a:rPr lang="en-US" sz="1500" dirty="0">
                <a:solidFill>
                  <a:srgbClr val="C2C4B5"/>
                </a:solidFill>
                <a:latin typeface="Bitter" pitchFamily="34" charset="0"/>
                <a:ea typeface="Bitter" pitchFamily="34" charset="-122"/>
                <a:cs typeface="Bitter" pitchFamily="34" charset="-120"/>
              </a:rPr>
              <a:t>Design an efficient customer flow management system using queue data structure</a:t>
            </a:r>
            <a:endParaRPr lang="en-US" sz="1500" dirty="0"/>
          </a:p>
        </p:txBody>
      </p:sp>
      <p:sp>
        <p:nvSpPr>
          <p:cNvPr id="10" name="Shape 7"/>
          <p:cNvSpPr/>
          <p:nvPr/>
        </p:nvSpPr>
        <p:spPr>
          <a:xfrm>
            <a:off x="7396639" y="2792968"/>
            <a:ext cx="6442115" cy="2090499"/>
          </a:xfrm>
          <a:prstGeom prst="roundRect">
            <a:avLst>
              <a:gd name="adj" fmla="val 1380"/>
            </a:avLst>
          </a:prstGeom>
          <a:solidFill>
            <a:srgbClr val="3B3C3E"/>
          </a:solidFill>
          <a:ln/>
        </p:spPr>
      </p:sp>
      <p:sp>
        <p:nvSpPr>
          <p:cNvPr id="11" name="Shape 8"/>
          <p:cNvSpPr/>
          <p:nvPr/>
        </p:nvSpPr>
        <p:spPr>
          <a:xfrm>
            <a:off x="7588806" y="2985135"/>
            <a:ext cx="576739" cy="576739"/>
          </a:xfrm>
          <a:prstGeom prst="roundRect">
            <a:avLst>
              <a:gd name="adj" fmla="val 15853073"/>
            </a:avLst>
          </a:prstGeom>
          <a:solidFill>
            <a:srgbClr val="D0DAA9"/>
          </a:solidFill>
          <a:ln/>
        </p:spPr>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47397" y="3143607"/>
            <a:ext cx="259556" cy="259556"/>
          </a:xfrm>
          <a:prstGeom prst="rect">
            <a:avLst/>
          </a:prstGeom>
        </p:spPr>
      </p:pic>
      <p:sp>
        <p:nvSpPr>
          <p:cNvPr id="13" name="Text 9"/>
          <p:cNvSpPr/>
          <p:nvPr/>
        </p:nvSpPr>
        <p:spPr>
          <a:xfrm>
            <a:off x="7588806" y="3724751"/>
            <a:ext cx="2403277" cy="300395"/>
          </a:xfrm>
          <a:prstGeom prst="rect">
            <a:avLst/>
          </a:prstGeom>
          <a:noFill/>
          <a:ln/>
        </p:spPr>
        <p:txBody>
          <a:bodyPr wrap="none" lIns="0" tIns="0" rIns="0" bIns="0" rtlCol="0" anchor="t"/>
          <a:lstStyle/>
          <a:p>
            <a:pPr marL="0" indent="0" algn="l">
              <a:lnSpc>
                <a:spcPts val="2350"/>
              </a:lnSpc>
              <a:buNone/>
            </a:pPr>
            <a:r>
              <a:rPr lang="en-US" sz="1850" b="1" dirty="0">
                <a:solidFill>
                  <a:srgbClr val="C2C4B5"/>
                </a:solidFill>
                <a:latin typeface="Outfit Bold" pitchFamily="34" charset="0"/>
                <a:ea typeface="Outfit Bold" pitchFamily="34" charset="-122"/>
                <a:cs typeface="Outfit Bold" pitchFamily="34" charset="-120"/>
              </a:rPr>
              <a:t>FIFO Principle</a:t>
            </a:r>
            <a:endParaRPr lang="en-US" sz="1850" dirty="0"/>
          </a:p>
        </p:txBody>
      </p:sp>
      <p:sp>
        <p:nvSpPr>
          <p:cNvPr id="14" name="Text 10"/>
          <p:cNvSpPr/>
          <p:nvPr/>
        </p:nvSpPr>
        <p:spPr>
          <a:xfrm>
            <a:off x="7588806" y="4122896"/>
            <a:ext cx="6057781" cy="568404"/>
          </a:xfrm>
          <a:prstGeom prst="rect">
            <a:avLst/>
          </a:prstGeom>
          <a:noFill/>
          <a:ln/>
        </p:spPr>
        <p:txBody>
          <a:bodyPr wrap="square" lIns="0" tIns="0" rIns="0" bIns="0" rtlCol="0" anchor="t"/>
          <a:lstStyle/>
          <a:p>
            <a:pPr marL="0" indent="0" algn="l">
              <a:lnSpc>
                <a:spcPts val="2200"/>
              </a:lnSpc>
              <a:buNone/>
            </a:pPr>
            <a:r>
              <a:rPr lang="en-US" sz="1500" dirty="0">
                <a:solidFill>
                  <a:srgbClr val="C2C4B5"/>
                </a:solidFill>
                <a:latin typeface="Bitter" pitchFamily="34" charset="0"/>
                <a:ea typeface="Bitter" pitchFamily="34" charset="-122"/>
                <a:cs typeface="Bitter" pitchFamily="34" charset="-120"/>
              </a:rPr>
              <a:t>Understand First-In-First-Out principle through hands-on implementation</a:t>
            </a:r>
            <a:endParaRPr lang="en-US" sz="1500" dirty="0"/>
          </a:p>
        </p:txBody>
      </p:sp>
      <p:sp>
        <p:nvSpPr>
          <p:cNvPr id="15" name="Shape 11"/>
          <p:cNvSpPr/>
          <p:nvPr/>
        </p:nvSpPr>
        <p:spPr>
          <a:xfrm>
            <a:off x="791647" y="5046345"/>
            <a:ext cx="6442115" cy="2090499"/>
          </a:xfrm>
          <a:prstGeom prst="roundRect">
            <a:avLst>
              <a:gd name="adj" fmla="val 1380"/>
            </a:avLst>
          </a:prstGeom>
          <a:solidFill>
            <a:srgbClr val="3B3C3E"/>
          </a:solidFill>
          <a:ln/>
        </p:spPr>
      </p:sp>
      <p:sp>
        <p:nvSpPr>
          <p:cNvPr id="16" name="Shape 12"/>
          <p:cNvSpPr/>
          <p:nvPr/>
        </p:nvSpPr>
        <p:spPr>
          <a:xfrm>
            <a:off x="983813" y="5238512"/>
            <a:ext cx="576739" cy="576739"/>
          </a:xfrm>
          <a:prstGeom prst="roundRect">
            <a:avLst>
              <a:gd name="adj" fmla="val 15853073"/>
            </a:avLst>
          </a:prstGeom>
          <a:solidFill>
            <a:srgbClr val="D0DAA9"/>
          </a:solidFill>
          <a:ln/>
        </p:spPr>
      </p:sp>
      <p:pic>
        <p:nvPicPr>
          <p:cNvPr id="17"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42405" y="5396984"/>
            <a:ext cx="259556" cy="259556"/>
          </a:xfrm>
          <a:prstGeom prst="rect">
            <a:avLst/>
          </a:prstGeom>
        </p:spPr>
      </p:pic>
      <p:sp>
        <p:nvSpPr>
          <p:cNvPr id="18" name="Text 13"/>
          <p:cNvSpPr/>
          <p:nvPr/>
        </p:nvSpPr>
        <p:spPr>
          <a:xfrm>
            <a:off x="983813" y="5978128"/>
            <a:ext cx="2403277" cy="300395"/>
          </a:xfrm>
          <a:prstGeom prst="rect">
            <a:avLst/>
          </a:prstGeom>
          <a:noFill/>
          <a:ln/>
        </p:spPr>
        <p:txBody>
          <a:bodyPr wrap="none" lIns="0" tIns="0" rIns="0" bIns="0" rtlCol="0" anchor="t"/>
          <a:lstStyle/>
          <a:p>
            <a:pPr marL="0" indent="0" algn="l">
              <a:lnSpc>
                <a:spcPts val="2350"/>
              </a:lnSpc>
              <a:buNone/>
            </a:pPr>
            <a:r>
              <a:rPr lang="en-US" sz="1850" b="1" dirty="0">
                <a:solidFill>
                  <a:srgbClr val="C2C4B5"/>
                </a:solidFill>
                <a:latin typeface="Outfit Bold" pitchFamily="34" charset="0"/>
                <a:ea typeface="Outfit Bold" pitchFamily="34" charset="-122"/>
                <a:cs typeface="Outfit Bold" pitchFamily="34" charset="-120"/>
              </a:rPr>
              <a:t>DSA Application</a:t>
            </a:r>
            <a:endParaRPr lang="en-US" sz="1850" dirty="0"/>
          </a:p>
        </p:txBody>
      </p:sp>
      <p:sp>
        <p:nvSpPr>
          <p:cNvPr id="19" name="Text 14"/>
          <p:cNvSpPr/>
          <p:nvPr/>
        </p:nvSpPr>
        <p:spPr>
          <a:xfrm>
            <a:off x="983813" y="6376273"/>
            <a:ext cx="6057781" cy="568404"/>
          </a:xfrm>
          <a:prstGeom prst="rect">
            <a:avLst/>
          </a:prstGeom>
          <a:noFill/>
          <a:ln/>
        </p:spPr>
        <p:txBody>
          <a:bodyPr wrap="square" lIns="0" tIns="0" rIns="0" bIns="0" rtlCol="0" anchor="t"/>
          <a:lstStyle/>
          <a:p>
            <a:pPr marL="0" indent="0" algn="l">
              <a:lnSpc>
                <a:spcPts val="2200"/>
              </a:lnSpc>
              <a:buNone/>
            </a:pPr>
            <a:r>
              <a:rPr lang="en-US" sz="1500" dirty="0">
                <a:solidFill>
                  <a:srgbClr val="C2C4B5"/>
                </a:solidFill>
                <a:latin typeface="Bitter" pitchFamily="34" charset="0"/>
                <a:ea typeface="Bitter" pitchFamily="34" charset="-122"/>
                <a:cs typeface="Bitter" pitchFamily="34" charset="-120"/>
              </a:rPr>
              <a:t>Apply data structures and algorithms concepts to real-world scenarios </a:t>
            </a:r>
            <a:endParaRPr lang="en-US" sz="1500" dirty="0"/>
          </a:p>
        </p:txBody>
      </p:sp>
      <p:sp>
        <p:nvSpPr>
          <p:cNvPr id="20" name="Shape 15"/>
          <p:cNvSpPr/>
          <p:nvPr/>
        </p:nvSpPr>
        <p:spPr>
          <a:xfrm>
            <a:off x="7396639" y="5046345"/>
            <a:ext cx="6442115" cy="2090499"/>
          </a:xfrm>
          <a:prstGeom prst="roundRect">
            <a:avLst>
              <a:gd name="adj" fmla="val 1380"/>
            </a:avLst>
          </a:prstGeom>
          <a:solidFill>
            <a:srgbClr val="3B3C3E"/>
          </a:solidFill>
          <a:ln/>
        </p:spPr>
      </p:sp>
      <p:sp>
        <p:nvSpPr>
          <p:cNvPr id="21" name="Shape 16"/>
          <p:cNvSpPr/>
          <p:nvPr/>
        </p:nvSpPr>
        <p:spPr>
          <a:xfrm>
            <a:off x="7588806" y="5238512"/>
            <a:ext cx="576739" cy="576739"/>
          </a:xfrm>
          <a:prstGeom prst="roundRect">
            <a:avLst>
              <a:gd name="adj" fmla="val 15853073"/>
            </a:avLst>
          </a:prstGeom>
          <a:solidFill>
            <a:srgbClr val="D0DAA9"/>
          </a:solidFill>
          <a:ln/>
        </p:spPr>
      </p:sp>
      <p:pic>
        <p:nvPicPr>
          <p:cNvPr id="2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47397" y="5396984"/>
            <a:ext cx="259556" cy="259556"/>
          </a:xfrm>
          <a:prstGeom prst="rect">
            <a:avLst/>
          </a:prstGeom>
        </p:spPr>
      </p:pic>
      <p:sp>
        <p:nvSpPr>
          <p:cNvPr id="23" name="Text 17"/>
          <p:cNvSpPr/>
          <p:nvPr/>
        </p:nvSpPr>
        <p:spPr>
          <a:xfrm>
            <a:off x="7588806" y="5978128"/>
            <a:ext cx="2403277" cy="300395"/>
          </a:xfrm>
          <a:prstGeom prst="rect">
            <a:avLst/>
          </a:prstGeom>
          <a:noFill/>
          <a:ln/>
        </p:spPr>
        <p:txBody>
          <a:bodyPr wrap="none" lIns="0" tIns="0" rIns="0" bIns="0" rtlCol="0" anchor="t"/>
          <a:lstStyle/>
          <a:p>
            <a:pPr marL="0" indent="0" algn="l">
              <a:lnSpc>
                <a:spcPts val="2350"/>
              </a:lnSpc>
              <a:buNone/>
            </a:pPr>
            <a:r>
              <a:rPr lang="en-US" sz="1850" b="1" dirty="0">
                <a:solidFill>
                  <a:srgbClr val="C2C4B5"/>
                </a:solidFill>
                <a:latin typeface="Outfit Bold" pitchFamily="34" charset="0"/>
                <a:ea typeface="Outfit Bold" pitchFamily="34" charset="-122"/>
                <a:cs typeface="Outfit Bold" pitchFamily="34" charset="-120"/>
              </a:rPr>
              <a:t>C++ Programming</a:t>
            </a:r>
            <a:endParaRPr lang="en-US" sz="1850" dirty="0"/>
          </a:p>
        </p:txBody>
      </p:sp>
      <p:sp>
        <p:nvSpPr>
          <p:cNvPr id="24" name="Text 18"/>
          <p:cNvSpPr/>
          <p:nvPr/>
        </p:nvSpPr>
        <p:spPr>
          <a:xfrm>
            <a:off x="7588806" y="6376273"/>
            <a:ext cx="6057781" cy="284202"/>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latin typeface="Bitter" pitchFamily="34" charset="0"/>
                <a:ea typeface="Bitter" pitchFamily="34" charset="-122"/>
                <a:cs typeface="Bitter" pitchFamily="34" charset="-120"/>
              </a:rPr>
              <a:t>Build a menu-driven program with practical coding skills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05683"/>
            <a:ext cx="7073384" cy="566976"/>
          </a:xfrm>
          <a:prstGeom prst="rect">
            <a:avLst/>
          </a:prstGeom>
          <a:noFill/>
          <a:ln/>
        </p:spPr>
        <p:txBody>
          <a:bodyPr wrap="none" lIns="0" tIns="0" rIns="0" bIns="0" rtlCol="0" anchor="t"/>
          <a:lstStyle/>
          <a:p>
            <a:pPr marL="0" indent="0" algn="l">
              <a:lnSpc>
                <a:spcPts val="4450"/>
              </a:lnSpc>
              <a:buNone/>
            </a:pPr>
            <a:r>
              <a:rPr lang="en-US" sz="3550" b="1" dirty="0">
                <a:solidFill>
                  <a:srgbClr val="E1E5CD"/>
                </a:solidFill>
                <a:latin typeface="Outfit Bold" pitchFamily="34" charset="0"/>
                <a:ea typeface="Outfit Bold" pitchFamily="34" charset="-122"/>
                <a:cs typeface="Outfit Bold" pitchFamily="34" charset="-120"/>
              </a:rPr>
              <a:t>Complexity &amp; Array                                   </a:t>
            </a:r>
            <a:endParaRPr lang="en-US" sz="3550" dirty="0"/>
          </a:p>
        </p:txBody>
      </p:sp>
      <p:sp>
        <p:nvSpPr>
          <p:cNvPr id="3" name="Text 1"/>
          <p:cNvSpPr/>
          <p:nvPr/>
        </p:nvSpPr>
        <p:spPr>
          <a:xfrm>
            <a:off x="793790" y="1562933"/>
            <a:ext cx="13042821" cy="783669"/>
          </a:xfrm>
          <a:prstGeom prst="rect">
            <a:avLst/>
          </a:prstGeom>
          <a:noFill/>
          <a:ln/>
        </p:spPr>
        <p:txBody>
          <a:bodyPr wrap="square" lIns="0" tIns="0" rIns="0" bIns="0" rtlCol="0" anchor="t"/>
          <a:lstStyle/>
          <a:p>
            <a:pPr marL="0" indent="0" algn="l">
              <a:lnSpc>
                <a:spcPts val="2050"/>
              </a:lnSpc>
              <a:buNone/>
            </a:pPr>
            <a:r>
              <a:rPr lang="en-US" sz="1400" b="1" dirty="0">
                <a:solidFill>
                  <a:srgbClr val="C2C4B5"/>
                </a:solidFill>
                <a:latin typeface="Bitter" pitchFamily="34" charset="0"/>
                <a:ea typeface="Bitter" pitchFamily="34" charset="-122"/>
                <a:cs typeface="Bitter" pitchFamily="34" charset="-120"/>
              </a:rPr>
              <a:t>Complexity analysis is used to measure the efficiency of an algorithm in terms of time and space using Big-O notation, while an array is a linear data structure that stores elements of the same type in contiguous memory and allows fast access using index positions.</a:t>
            </a:r>
            <a:endParaRPr lang="en-US" sz="1400" dirty="0"/>
          </a:p>
        </p:txBody>
      </p:sp>
      <p:sp>
        <p:nvSpPr>
          <p:cNvPr id="4" name="Text 2"/>
          <p:cNvSpPr/>
          <p:nvPr/>
        </p:nvSpPr>
        <p:spPr>
          <a:xfrm>
            <a:off x="793790" y="2509838"/>
            <a:ext cx="13042821" cy="1075373"/>
          </a:xfrm>
          <a:prstGeom prst="rect">
            <a:avLst/>
          </a:prstGeom>
          <a:noFill/>
          <a:ln/>
        </p:spPr>
        <p:txBody>
          <a:bodyPr wrap="square" lIns="0" tIns="0" rIns="0" bIns="0" rtlCol="0" anchor="t"/>
          <a:lstStyle/>
          <a:p>
            <a:pPr marL="0" indent="0" algn="l">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int arr[3] = {10, 20, 30};</a:t>
            </a:r>
          </a:p>
          <a:p>
            <a:pPr marL="0" indent="0" algn="l">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for(int i = 0; i &lt; 3; i++) </a:t>
            </a:r>
          </a:p>
          <a:p>
            <a:pPr marL="0" indent="0" algn="l">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 cout &lt;&lt; arr[i]; </a:t>
            </a:r>
          </a:p>
          <a:p>
            <a:pPr marL="0" indent="0" algn="l">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 O(n)}</a:t>
            </a:r>
            <a:endParaRPr lang="en-US" sz="1400" dirty="0"/>
          </a:p>
        </p:txBody>
      </p:sp>
      <p:sp>
        <p:nvSpPr>
          <p:cNvPr id="5" name="Text 3"/>
          <p:cNvSpPr/>
          <p:nvPr/>
        </p:nvSpPr>
        <p:spPr>
          <a:xfrm>
            <a:off x="793790" y="3748445"/>
            <a:ext cx="13042821" cy="261223"/>
          </a:xfrm>
          <a:prstGeom prst="rect">
            <a:avLst/>
          </a:prstGeom>
          <a:noFill/>
          <a:ln/>
        </p:spPr>
        <p:txBody>
          <a:bodyPr wrap="none" lIns="0" tIns="0" rIns="0" bIns="0" rtlCol="0" anchor="t"/>
          <a:lstStyle/>
          <a:p>
            <a:pPr marL="0" indent="0" algn="l">
              <a:lnSpc>
                <a:spcPts val="2050"/>
              </a:lnSpc>
              <a:buNone/>
            </a:pPr>
            <a:endParaRPr lang="en-US" sz="1400" dirty="0"/>
          </a:p>
        </p:txBody>
      </p:sp>
      <p:sp>
        <p:nvSpPr>
          <p:cNvPr id="6" name="Text 4"/>
          <p:cNvSpPr/>
          <p:nvPr/>
        </p:nvSpPr>
        <p:spPr>
          <a:xfrm>
            <a:off x="9300091" y="4227314"/>
            <a:ext cx="4536519" cy="566976"/>
          </a:xfrm>
          <a:prstGeom prst="rect">
            <a:avLst/>
          </a:prstGeom>
          <a:noFill/>
          <a:ln/>
        </p:spPr>
        <p:txBody>
          <a:bodyPr wrap="none" lIns="0" tIns="0" rIns="0" bIns="0" rtlCol="0" anchor="t"/>
          <a:lstStyle/>
          <a:p>
            <a:pPr marL="0" indent="0" algn="r">
              <a:lnSpc>
                <a:spcPts val="4450"/>
              </a:lnSpc>
              <a:buNone/>
            </a:pPr>
            <a:r>
              <a:rPr lang="en-US" sz="3550" b="1" dirty="0">
                <a:solidFill>
                  <a:srgbClr val="E1E5CD"/>
                </a:solidFill>
                <a:latin typeface="Outfit Bold" pitchFamily="34" charset="0"/>
                <a:ea typeface="Outfit Bold" pitchFamily="34" charset="-122"/>
                <a:cs typeface="Outfit Bold" pitchFamily="34" charset="-120"/>
              </a:rPr>
              <a:t>Linked List - Stack </a:t>
            </a:r>
            <a:endParaRPr lang="en-US" sz="3550" dirty="0"/>
          </a:p>
        </p:txBody>
      </p:sp>
      <p:sp>
        <p:nvSpPr>
          <p:cNvPr id="7" name="Text 5"/>
          <p:cNvSpPr/>
          <p:nvPr/>
        </p:nvSpPr>
        <p:spPr>
          <a:xfrm>
            <a:off x="793790" y="5011936"/>
            <a:ext cx="13042821" cy="783669"/>
          </a:xfrm>
          <a:prstGeom prst="rect">
            <a:avLst/>
          </a:prstGeom>
          <a:noFill/>
          <a:ln/>
        </p:spPr>
        <p:txBody>
          <a:bodyPr wrap="square" lIns="0" tIns="0" rIns="0" bIns="0" rtlCol="0" anchor="t"/>
          <a:lstStyle/>
          <a:p>
            <a:pPr marL="0" indent="0" algn="r">
              <a:lnSpc>
                <a:spcPts val="2050"/>
              </a:lnSpc>
              <a:buNone/>
            </a:pPr>
            <a:r>
              <a:rPr lang="en-US" sz="1400" b="1" dirty="0">
                <a:solidFill>
                  <a:srgbClr val="C2C4B5"/>
                </a:solidFill>
                <a:latin typeface="Bitter" pitchFamily="34" charset="0"/>
                <a:ea typeface="Bitter" pitchFamily="34" charset="-122"/>
                <a:cs typeface="Bitter" pitchFamily="34" charset="-120"/>
              </a:rPr>
              <a:t>A linked list is a dynamic data structure where elements are stored in nodes connected by pointers, allowing flexible memory usage, while a stack is a linear data structure that follows the LIFO (Last In First Out) principle where elements are inserted and removed using push and pop operations.</a:t>
            </a:r>
            <a:endParaRPr lang="en-US" sz="1400" dirty="0"/>
          </a:p>
        </p:txBody>
      </p:sp>
      <p:sp>
        <p:nvSpPr>
          <p:cNvPr id="8" name="Text 6"/>
          <p:cNvSpPr/>
          <p:nvPr/>
        </p:nvSpPr>
        <p:spPr>
          <a:xfrm>
            <a:off x="793790" y="5958840"/>
            <a:ext cx="13042821" cy="26884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struct Node { int data; Node* next; };</a:t>
            </a:r>
            <a:endParaRPr lang="en-US" sz="1400" dirty="0"/>
          </a:p>
        </p:txBody>
      </p:sp>
      <p:sp>
        <p:nvSpPr>
          <p:cNvPr id="9" name="Text 7"/>
          <p:cNvSpPr/>
          <p:nvPr/>
        </p:nvSpPr>
        <p:spPr>
          <a:xfrm>
            <a:off x="793790" y="6390918"/>
            <a:ext cx="13042821" cy="26884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stack s; </a:t>
            </a:r>
            <a:endParaRPr lang="en-US" sz="1400" dirty="0"/>
          </a:p>
        </p:txBody>
      </p:sp>
      <p:sp>
        <p:nvSpPr>
          <p:cNvPr id="10" name="Text 8"/>
          <p:cNvSpPr/>
          <p:nvPr/>
        </p:nvSpPr>
        <p:spPr>
          <a:xfrm>
            <a:off x="793790" y="6822996"/>
            <a:ext cx="13042821" cy="26884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s.push(10); </a:t>
            </a:r>
            <a:endParaRPr lang="en-US" sz="1400" dirty="0"/>
          </a:p>
        </p:txBody>
      </p:sp>
      <p:sp>
        <p:nvSpPr>
          <p:cNvPr id="11" name="Text 9"/>
          <p:cNvSpPr/>
          <p:nvPr/>
        </p:nvSpPr>
        <p:spPr>
          <a:xfrm>
            <a:off x="793790" y="7255073"/>
            <a:ext cx="13042821" cy="26884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s.pop();</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076087"/>
            <a:ext cx="4536519" cy="566976"/>
          </a:xfrm>
          <a:prstGeom prst="rect">
            <a:avLst/>
          </a:prstGeom>
          <a:noFill/>
          <a:ln/>
        </p:spPr>
        <p:txBody>
          <a:bodyPr wrap="none" lIns="0" tIns="0" rIns="0" bIns="0" rtlCol="0" anchor="t"/>
          <a:lstStyle/>
          <a:p>
            <a:pPr marL="0" indent="0" algn="l">
              <a:lnSpc>
                <a:spcPts val="4450"/>
              </a:lnSpc>
              <a:buNone/>
            </a:pPr>
            <a:r>
              <a:rPr lang="en-US" sz="3550" b="1" dirty="0">
                <a:solidFill>
                  <a:srgbClr val="E1E5CD"/>
                </a:solidFill>
                <a:latin typeface="Outfit Bold" pitchFamily="34" charset="0"/>
                <a:ea typeface="Outfit Bold" pitchFamily="34" charset="-122"/>
                <a:cs typeface="Outfit Bold" pitchFamily="34" charset="-120"/>
              </a:rPr>
              <a:t>Queue &amp; Sorting</a:t>
            </a:r>
            <a:endParaRPr lang="en-US" sz="3550" dirty="0"/>
          </a:p>
        </p:txBody>
      </p:sp>
      <p:sp>
        <p:nvSpPr>
          <p:cNvPr id="3" name="Text 1"/>
          <p:cNvSpPr/>
          <p:nvPr/>
        </p:nvSpPr>
        <p:spPr>
          <a:xfrm>
            <a:off x="793790" y="1860709"/>
            <a:ext cx="13042821" cy="783669"/>
          </a:xfrm>
          <a:prstGeom prst="rect">
            <a:avLst/>
          </a:prstGeom>
          <a:noFill/>
          <a:ln/>
        </p:spPr>
        <p:txBody>
          <a:bodyPr wrap="square" lIns="0" tIns="0" rIns="0" bIns="0" rtlCol="0" anchor="t"/>
          <a:lstStyle/>
          <a:p>
            <a:pPr marL="0" indent="0" algn="l">
              <a:lnSpc>
                <a:spcPts val="2050"/>
              </a:lnSpc>
              <a:buNone/>
            </a:pPr>
            <a:r>
              <a:rPr lang="en-US" sz="1400" b="1" dirty="0">
                <a:solidFill>
                  <a:srgbClr val="C2C4B5"/>
                </a:solidFill>
                <a:latin typeface="Bitter" pitchFamily="34" charset="0"/>
                <a:ea typeface="Bitter" pitchFamily="34" charset="-122"/>
                <a:cs typeface="Bitter" pitchFamily="34" charset="-120"/>
              </a:rPr>
              <a:t>A queue is a linear data structure that follows the FIFO (First In First Out) principle where elements are inserted at the rear and removed from the front, while sorting is the process of arranging data in a specific order such as ascending or descending to make searching and processing more efficient.</a:t>
            </a:r>
            <a:endParaRPr lang="en-US" sz="1400" dirty="0"/>
          </a:p>
        </p:txBody>
      </p:sp>
      <p:sp>
        <p:nvSpPr>
          <p:cNvPr id="4" name="Text 2"/>
          <p:cNvSpPr/>
          <p:nvPr/>
        </p:nvSpPr>
        <p:spPr>
          <a:xfrm>
            <a:off x="793790" y="2807613"/>
            <a:ext cx="13042821" cy="261223"/>
          </a:xfrm>
          <a:prstGeom prst="rect">
            <a:avLst/>
          </a:prstGeom>
          <a:noFill/>
          <a:ln/>
        </p:spPr>
        <p:txBody>
          <a:bodyPr wrap="none" lIns="0" tIns="0" rIns="0" bIns="0" rtlCol="0" anchor="t"/>
          <a:lstStyle/>
          <a:p>
            <a:pPr marL="0" indent="0" algn="l">
              <a:lnSpc>
                <a:spcPts val="2050"/>
              </a:lnSpc>
              <a:buNone/>
            </a:pPr>
            <a:endParaRPr lang="en-US" sz="1400" dirty="0"/>
          </a:p>
        </p:txBody>
      </p:sp>
      <p:sp>
        <p:nvSpPr>
          <p:cNvPr id="5" name="Text 3"/>
          <p:cNvSpPr/>
          <p:nvPr/>
        </p:nvSpPr>
        <p:spPr>
          <a:xfrm>
            <a:off x="793790" y="3232071"/>
            <a:ext cx="13042821" cy="261223"/>
          </a:xfrm>
          <a:prstGeom prst="rect">
            <a:avLst/>
          </a:prstGeom>
          <a:noFill/>
          <a:ln/>
        </p:spPr>
        <p:txBody>
          <a:bodyPr wrap="none" lIns="0" tIns="0" rIns="0" bIns="0" rtlCol="0" anchor="t"/>
          <a:lstStyle/>
          <a:p>
            <a:pPr marL="0" indent="0" algn="l">
              <a:lnSpc>
                <a:spcPts val="2050"/>
              </a:lnSpc>
              <a:buNone/>
            </a:pPr>
            <a:endParaRPr lang="en-US" sz="1400" dirty="0"/>
          </a:p>
        </p:txBody>
      </p:sp>
      <p:sp>
        <p:nvSpPr>
          <p:cNvPr id="6" name="Text 4"/>
          <p:cNvSpPr/>
          <p:nvPr/>
        </p:nvSpPr>
        <p:spPr>
          <a:xfrm>
            <a:off x="793790" y="3656528"/>
            <a:ext cx="13042821" cy="261223"/>
          </a:xfrm>
          <a:prstGeom prst="rect">
            <a:avLst/>
          </a:prstGeom>
          <a:noFill/>
          <a:ln/>
        </p:spPr>
        <p:txBody>
          <a:bodyPr wrap="none" lIns="0" tIns="0" rIns="0" bIns="0" rtlCol="0" anchor="t"/>
          <a:lstStyle/>
          <a:p>
            <a:pPr marL="0" indent="0" algn="l">
              <a:lnSpc>
                <a:spcPts val="2050"/>
              </a:lnSpc>
              <a:buNone/>
            </a:pPr>
            <a:endParaRPr lang="en-US" sz="1400" dirty="0"/>
          </a:p>
        </p:txBody>
      </p:sp>
      <p:sp>
        <p:nvSpPr>
          <p:cNvPr id="7" name="Text 5"/>
          <p:cNvSpPr/>
          <p:nvPr/>
        </p:nvSpPr>
        <p:spPr>
          <a:xfrm>
            <a:off x="9283303" y="4135398"/>
            <a:ext cx="4553307" cy="566976"/>
          </a:xfrm>
          <a:prstGeom prst="rect">
            <a:avLst/>
          </a:prstGeom>
          <a:noFill/>
          <a:ln/>
        </p:spPr>
        <p:txBody>
          <a:bodyPr wrap="none" lIns="0" tIns="0" rIns="0" bIns="0" rtlCol="0" anchor="t"/>
          <a:lstStyle/>
          <a:p>
            <a:pPr marL="0" indent="0" algn="r">
              <a:lnSpc>
                <a:spcPts val="4450"/>
              </a:lnSpc>
              <a:buNone/>
            </a:pPr>
            <a:r>
              <a:rPr lang="en-US" sz="3550" b="1" dirty="0">
                <a:solidFill>
                  <a:srgbClr val="E1E5CD"/>
                </a:solidFill>
                <a:latin typeface="Outfit Bold" pitchFamily="34" charset="0"/>
                <a:ea typeface="Outfit Bold" pitchFamily="34" charset="-122"/>
                <a:cs typeface="Outfit Bold" pitchFamily="34" charset="-120"/>
              </a:rPr>
              <a:t>Queue Data Structure</a:t>
            </a:r>
            <a:endParaRPr lang="en-US" sz="3550" dirty="0"/>
          </a:p>
        </p:txBody>
      </p:sp>
      <p:sp>
        <p:nvSpPr>
          <p:cNvPr id="8" name="Shape 6"/>
          <p:cNvSpPr/>
          <p:nvPr/>
        </p:nvSpPr>
        <p:spPr>
          <a:xfrm>
            <a:off x="793790" y="4920020"/>
            <a:ext cx="6448782" cy="1040368"/>
          </a:xfrm>
          <a:prstGeom prst="roundRect">
            <a:avLst>
              <a:gd name="adj" fmla="val 2616"/>
            </a:avLst>
          </a:prstGeom>
          <a:solidFill>
            <a:srgbClr val="1C1D1F"/>
          </a:solidFill>
          <a:ln w="22860">
            <a:solidFill>
              <a:srgbClr val="545557"/>
            </a:solidFill>
            <a:prstDash val="solid"/>
          </a:ln>
        </p:spPr>
      </p:sp>
      <p:sp>
        <p:nvSpPr>
          <p:cNvPr id="9" name="Text 7"/>
          <p:cNvSpPr/>
          <p:nvPr/>
        </p:nvSpPr>
        <p:spPr>
          <a:xfrm>
            <a:off x="4770001" y="5124331"/>
            <a:ext cx="2268260" cy="283488"/>
          </a:xfrm>
          <a:prstGeom prst="rect">
            <a:avLst/>
          </a:prstGeom>
          <a:noFill/>
          <a:ln/>
        </p:spPr>
        <p:txBody>
          <a:bodyPr wrap="none" lIns="0" tIns="0" rIns="0" bIns="0" rtlCol="0" anchor="t"/>
          <a:lstStyle/>
          <a:p>
            <a:pPr marL="0" indent="0" algn="r">
              <a:lnSpc>
                <a:spcPts val="2200"/>
              </a:lnSpc>
              <a:buNone/>
            </a:pPr>
            <a:r>
              <a:rPr lang="en-US" sz="1750" b="1" dirty="0">
                <a:solidFill>
                  <a:srgbClr val="C2C4B5"/>
                </a:solidFill>
                <a:latin typeface="Outfit Bold" pitchFamily="34" charset="0"/>
                <a:ea typeface="Outfit Bold" pitchFamily="34" charset="-122"/>
                <a:cs typeface="Outfit Bold" pitchFamily="34" charset="-120"/>
              </a:rPr>
              <a:t>FIFO Principle</a:t>
            </a:r>
            <a:endParaRPr lang="en-US" sz="1750" dirty="0"/>
          </a:p>
        </p:txBody>
      </p:sp>
      <p:sp>
        <p:nvSpPr>
          <p:cNvPr id="10" name="Text 8"/>
          <p:cNvSpPr/>
          <p:nvPr/>
        </p:nvSpPr>
        <p:spPr>
          <a:xfrm>
            <a:off x="998101" y="5494853"/>
            <a:ext cx="6040160" cy="26122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latin typeface="Bitter" pitchFamily="34" charset="0"/>
                <a:ea typeface="Bitter" pitchFamily="34" charset="-122"/>
                <a:cs typeface="Bitter" pitchFamily="34" charset="-120"/>
              </a:rPr>
              <a:t>Linear data structure where elements follow First-In-First-Out order</a:t>
            </a:r>
            <a:endParaRPr lang="en-US" sz="1400" dirty="0"/>
          </a:p>
        </p:txBody>
      </p:sp>
      <p:sp>
        <p:nvSpPr>
          <p:cNvPr id="11" name="Shape 9"/>
          <p:cNvSpPr/>
          <p:nvPr/>
        </p:nvSpPr>
        <p:spPr>
          <a:xfrm>
            <a:off x="7387709" y="4920020"/>
            <a:ext cx="6448901" cy="1040368"/>
          </a:xfrm>
          <a:prstGeom prst="roundRect">
            <a:avLst>
              <a:gd name="adj" fmla="val 2616"/>
            </a:avLst>
          </a:prstGeom>
          <a:solidFill>
            <a:srgbClr val="1C1D1F"/>
          </a:solidFill>
          <a:ln w="22860">
            <a:solidFill>
              <a:srgbClr val="545557"/>
            </a:solidFill>
            <a:prstDash val="solid"/>
          </a:ln>
        </p:spPr>
      </p:sp>
      <p:sp>
        <p:nvSpPr>
          <p:cNvPr id="12" name="Text 10"/>
          <p:cNvSpPr/>
          <p:nvPr/>
        </p:nvSpPr>
        <p:spPr>
          <a:xfrm>
            <a:off x="11364039" y="5124331"/>
            <a:ext cx="2268260" cy="283488"/>
          </a:xfrm>
          <a:prstGeom prst="rect">
            <a:avLst/>
          </a:prstGeom>
          <a:noFill/>
          <a:ln/>
        </p:spPr>
        <p:txBody>
          <a:bodyPr wrap="none" lIns="0" tIns="0" rIns="0" bIns="0" rtlCol="0" anchor="t"/>
          <a:lstStyle/>
          <a:p>
            <a:pPr marL="0" indent="0" algn="r">
              <a:lnSpc>
                <a:spcPts val="2200"/>
              </a:lnSpc>
              <a:buNone/>
            </a:pPr>
            <a:r>
              <a:rPr lang="en-US" sz="1750" b="1" dirty="0">
                <a:solidFill>
                  <a:srgbClr val="C2C4B5"/>
                </a:solidFill>
                <a:latin typeface="Outfit Bold" pitchFamily="34" charset="0"/>
                <a:ea typeface="Outfit Bold" pitchFamily="34" charset="-122"/>
                <a:cs typeface="Outfit Bold" pitchFamily="34" charset="-120"/>
              </a:rPr>
              <a:t>Insertion &amp; Deletion</a:t>
            </a:r>
            <a:endParaRPr lang="en-US" sz="1750" dirty="0"/>
          </a:p>
        </p:txBody>
      </p:sp>
      <p:sp>
        <p:nvSpPr>
          <p:cNvPr id="13" name="Text 11"/>
          <p:cNvSpPr/>
          <p:nvPr/>
        </p:nvSpPr>
        <p:spPr>
          <a:xfrm>
            <a:off x="7592020" y="5494853"/>
            <a:ext cx="6040279" cy="26122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latin typeface="Bitter" pitchFamily="34" charset="0"/>
                <a:ea typeface="Bitter" pitchFamily="34" charset="-122"/>
                <a:cs typeface="Bitter" pitchFamily="34" charset="-120"/>
              </a:rPr>
              <a:t>Elements added at rear position, removed from front position</a:t>
            </a:r>
            <a:endParaRPr lang="en-US" sz="1400" dirty="0"/>
          </a:p>
        </p:txBody>
      </p:sp>
      <p:sp>
        <p:nvSpPr>
          <p:cNvPr id="14" name="Shape 12"/>
          <p:cNvSpPr/>
          <p:nvPr/>
        </p:nvSpPr>
        <p:spPr>
          <a:xfrm>
            <a:off x="793790" y="6105525"/>
            <a:ext cx="6448782" cy="1047988"/>
          </a:xfrm>
          <a:prstGeom prst="roundRect">
            <a:avLst>
              <a:gd name="adj" fmla="val 2597"/>
            </a:avLst>
          </a:prstGeom>
          <a:solidFill>
            <a:srgbClr val="1C1D1F"/>
          </a:solidFill>
          <a:ln w="22860">
            <a:solidFill>
              <a:srgbClr val="545557"/>
            </a:solidFill>
            <a:prstDash val="solid"/>
          </a:ln>
        </p:spPr>
      </p:sp>
      <p:sp>
        <p:nvSpPr>
          <p:cNvPr id="15" name="Text 13"/>
          <p:cNvSpPr/>
          <p:nvPr/>
        </p:nvSpPr>
        <p:spPr>
          <a:xfrm>
            <a:off x="4770001" y="6309836"/>
            <a:ext cx="2268260" cy="283488"/>
          </a:xfrm>
          <a:prstGeom prst="rect">
            <a:avLst/>
          </a:prstGeom>
          <a:noFill/>
          <a:ln/>
        </p:spPr>
        <p:txBody>
          <a:bodyPr wrap="none" lIns="0" tIns="0" rIns="0" bIns="0" rtlCol="0" anchor="t"/>
          <a:lstStyle/>
          <a:p>
            <a:pPr marL="0" indent="0" algn="r">
              <a:lnSpc>
                <a:spcPts val="2200"/>
              </a:lnSpc>
              <a:buNone/>
            </a:pPr>
            <a:r>
              <a:rPr lang="en-US" sz="1750" b="1" dirty="0">
                <a:solidFill>
                  <a:srgbClr val="C2C4B5"/>
                </a:solidFill>
                <a:latin typeface="Outfit Bold" pitchFamily="34" charset="0"/>
                <a:ea typeface="Outfit Bold" pitchFamily="34" charset="-122"/>
                <a:cs typeface="Outfit Bold" pitchFamily="34" charset="-120"/>
              </a:rPr>
              <a:t>Key Operations</a:t>
            </a:r>
            <a:endParaRPr lang="en-US" sz="1750" dirty="0"/>
          </a:p>
        </p:txBody>
      </p:sp>
      <p:sp>
        <p:nvSpPr>
          <p:cNvPr id="16" name="Text 14"/>
          <p:cNvSpPr/>
          <p:nvPr/>
        </p:nvSpPr>
        <p:spPr>
          <a:xfrm>
            <a:off x="998101" y="6680359"/>
            <a:ext cx="6040160" cy="26884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highlight>
                  <a:srgbClr val="292A2C"/>
                </a:highlight>
                <a:latin typeface="Consolas" pitchFamily="34" charset="0"/>
                <a:ea typeface="Consolas" pitchFamily="34" charset="-122"/>
                <a:cs typeface="Consolas" pitchFamily="34" charset="-120"/>
              </a:rPr>
              <a:t>push()</a:t>
            </a:r>
            <a:r>
              <a:rPr lang="en-US" sz="1400" dirty="0">
                <a:solidFill>
                  <a:srgbClr val="C2C4B5"/>
                </a:solidFill>
                <a:latin typeface="Bitter" pitchFamily="34" charset="0"/>
                <a:ea typeface="Bitter" pitchFamily="34" charset="-122"/>
                <a:cs typeface="Bitter" pitchFamily="34" charset="-120"/>
              </a:rPr>
              <a:t>, </a:t>
            </a:r>
            <a:r>
              <a:rPr lang="en-US" sz="1400" dirty="0">
                <a:solidFill>
                  <a:srgbClr val="C2C4B5"/>
                </a:solidFill>
                <a:highlight>
                  <a:srgbClr val="292A2C"/>
                </a:highlight>
                <a:latin typeface="Consolas" pitchFamily="34" charset="0"/>
                <a:ea typeface="Consolas" pitchFamily="34" charset="-122"/>
                <a:cs typeface="Consolas" pitchFamily="34" charset="-120"/>
              </a:rPr>
              <a:t>pop()</a:t>
            </a:r>
            <a:r>
              <a:rPr lang="en-US" sz="1400" dirty="0">
                <a:solidFill>
                  <a:srgbClr val="C2C4B5"/>
                </a:solidFill>
                <a:latin typeface="Bitter" pitchFamily="34" charset="0"/>
                <a:ea typeface="Bitter" pitchFamily="34" charset="-122"/>
                <a:cs typeface="Bitter" pitchFamily="34" charset="-120"/>
              </a:rPr>
              <a:t>, </a:t>
            </a:r>
            <a:r>
              <a:rPr lang="en-US" sz="1400" dirty="0">
                <a:solidFill>
                  <a:srgbClr val="C2C4B5"/>
                </a:solidFill>
                <a:highlight>
                  <a:srgbClr val="292A2C"/>
                </a:highlight>
                <a:latin typeface="Consolas" pitchFamily="34" charset="0"/>
                <a:ea typeface="Consolas" pitchFamily="34" charset="-122"/>
                <a:cs typeface="Consolas" pitchFamily="34" charset="-120"/>
              </a:rPr>
              <a:t>front()</a:t>
            </a:r>
            <a:r>
              <a:rPr lang="en-US" sz="1400" dirty="0">
                <a:solidFill>
                  <a:srgbClr val="C2C4B5"/>
                </a:solidFill>
                <a:latin typeface="Bitter" pitchFamily="34" charset="0"/>
                <a:ea typeface="Bitter" pitchFamily="34" charset="-122"/>
                <a:cs typeface="Bitter" pitchFamily="34" charset="-120"/>
              </a:rPr>
              <a:t>, </a:t>
            </a:r>
            <a:r>
              <a:rPr lang="en-US" sz="1400" dirty="0">
                <a:solidFill>
                  <a:srgbClr val="C2C4B5"/>
                </a:solidFill>
                <a:highlight>
                  <a:srgbClr val="292A2C"/>
                </a:highlight>
                <a:latin typeface="Consolas" pitchFamily="34" charset="0"/>
                <a:ea typeface="Consolas" pitchFamily="34" charset="-122"/>
                <a:cs typeface="Consolas" pitchFamily="34" charset="-120"/>
              </a:rPr>
              <a:t>empty()</a:t>
            </a:r>
            <a:r>
              <a:rPr lang="en-US" sz="1400" dirty="0">
                <a:solidFill>
                  <a:srgbClr val="C2C4B5"/>
                </a:solidFill>
                <a:latin typeface="Bitter" pitchFamily="34" charset="0"/>
                <a:ea typeface="Bitter" pitchFamily="34" charset="-122"/>
                <a:cs typeface="Bitter" pitchFamily="34" charset="-120"/>
              </a:rPr>
              <a:t> methods</a:t>
            </a:r>
            <a:endParaRPr lang="en-US" sz="1400" dirty="0"/>
          </a:p>
        </p:txBody>
      </p:sp>
      <p:sp>
        <p:nvSpPr>
          <p:cNvPr id="17" name="Shape 15"/>
          <p:cNvSpPr/>
          <p:nvPr/>
        </p:nvSpPr>
        <p:spPr>
          <a:xfrm>
            <a:off x="7387709" y="6105525"/>
            <a:ext cx="6448901" cy="1047988"/>
          </a:xfrm>
          <a:prstGeom prst="roundRect">
            <a:avLst>
              <a:gd name="adj" fmla="val 2597"/>
            </a:avLst>
          </a:prstGeom>
          <a:solidFill>
            <a:srgbClr val="1C1D1F"/>
          </a:solidFill>
          <a:ln w="22860">
            <a:solidFill>
              <a:srgbClr val="545557"/>
            </a:solidFill>
            <a:prstDash val="solid"/>
          </a:ln>
        </p:spPr>
      </p:sp>
      <p:sp>
        <p:nvSpPr>
          <p:cNvPr id="18" name="Text 16"/>
          <p:cNvSpPr/>
          <p:nvPr/>
        </p:nvSpPr>
        <p:spPr>
          <a:xfrm>
            <a:off x="11364039" y="6309836"/>
            <a:ext cx="2268260" cy="283488"/>
          </a:xfrm>
          <a:prstGeom prst="rect">
            <a:avLst/>
          </a:prstGeom>
          <a:noFill/>
          <a:ln/>
        </p:spPr>
        <p:txBody>
          <a:bodyPr wrap="none" lIns="0" tIns="0" rIns="0" bIns="0" rtlCol="0" anchor="t"/>
          <a:lstStyle/>
          <a:p>
            <a:pPr marL="0" indent="0" algn="r">
              <a:lnSpc>
                <a:spcPts val="2200"/>
              </a:lnSpc>
              <a:buNone/>
            </a:pPr>
            <a:r>
              <a:rPr lang="en-US" sz="1750" b="1" dirty="0">
                <a:solidFill>
                  <a:srgbClr val="C2C4B5"/>
                </a:solidFill>
                <a:latin typeface="Outfit Bold" pitchFamily="34" charset="0"/>
                <a:ea typeface="Outfit Bold" pitchFamily="34" charset="-122"/>
                <a:cs typeface="Outfit Bold" pitchFamily="34" charset="-120"/>
              </a:rPr>
              <a:t>Efficiency</a:t>
            </a:r>
            <a:endParaRPr lang="en-US" sz="1750" dirty="0"/>
          </a:p>
        </p:txBody>
      </p:sp>
      <p:sp>
        <p:nvSpPr>
          <p:cNvPr id="19" name="Text 17"/>
          <p:cNvSpPr/>
          <p:nvPr/>
        </p:nvSpPr>
        <p:spPr>
          <a:xfrm>
            <a:off x="7592020" y="6680359"/>
            <a:ext cx="6040279" cy="261223"/>
          </a:xfrm>
          <a:prstGeom prst="rect">
            <a:avLst/>
          </a:prstGeom>
          <a:noFill/>
          <a:ln/>
        </p:spPr>
        <p:txBody>
          <a:bodyPr wrap="none" lIns="0" tIns="0" rIns="0" bIns="0" rtlCol="0" anchor="t"/>
          <a:lstStyle/>
          <a:p>
            <a:pPr marL="0" indent="0" algn="r">
              <a:lnSpc>
                <a:spcPts val="2050"/>
              </a:lnSpc>
              <a:buNone/>
            </a:pPr>
            <a:r>
              <a:rPr lang="en-US" sz="1400" dirty="0">
                <a:solidFill>
                  <a:srgbClr val="C2C4B5"/>
                </a:solidFill>
                <a:latin typeface="Bitter" pitchFamily="34" charset="0"/>
                <a:ea typeface="Bitter" pitchFamily="34" charset="-122"/>
                <a:cs typeface="Bitter" pitchFamily="34" charset="-120"/>
              </a:rPr>
              <a:t>O(1) time complexity for insertion and deletion operations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016603" y="638651"/>
            <a:ext cx="4820007" cy="602456"/>
          </a:xfrm>
          <a:prstGeom prst="rect">
            <a:avLst/>
          </a:prstGeom>
          <a:noFill/>
          <a:ln/>
        </p:spPr>
        <p:txBody>
          <a:bodyPr wrap="none" lIns="0" tIns="0" rIns="0" bIns="0" rtlCol="0" anchor="t"/>
          <a:lstStyle/>
          <a:p>
            <a:pPr marL="0" indent="0" algn="r">
              <a:lnSpc>
                <a:spcPts val="4700"/>
              </a:lnSpc>
              <a:buNone/>
            </a:pPr>
            <a:r>
              <a:rPr lang="en-US" sz="3750" b="1" dirty="0">
                <a:solidFill>
                  <a:srgbClr val="E1E5CD"/>
                </a:solidFill>
                <a:latin typeface="Outfit Bold" pitchFamily="34" charset="0"/>
                <a:ea typeface="Outfit Bold" pitchFamily="34" charset="-122"/>
                <a:cs typeface="Outfit Bold" pitchFamily="34" charset="-120"/>
              </a:rPr>
              <a:t>Searching - Tree </a:t>
            </a:r>
            <a:endParaRPr lang="en-US" sz="3750" dirty="0"/>
          </a:p>
        </p:txBody>
      </p:sp>
      <p:sp>
        <p:nvSpPr>
          <p:cNvPr id="3" name="Text 1"/>
          <p:cNvSpPr/>
          <p:nvPr/>
        </p:nvSpPr>
        <p:spPr>
          <a:xfrm>
            <a:off x="793790" y="1568768"/>
            <a:ext cx="13042821" cy="570548"/>
          </a:xfrm>
          <a:prstGeom prst="rect">
            <a:avLst/>
          </a:prstGeom>
          <a:noFill/>
          <a:ln/>
        </p:spPr>
        <p:txBody>
          <a:bodyPr wrap="square" lIns="0" tIns="0" rIns="0" bIns="0" rtlCol="0" anchor="t"/>
          <a:lstStyle/>
          <a:p>
            <a:pPr marL="0" indent="0" algn="l">
              <a:lnSpc>
                <a:spcPts val="2200"/>
              </a:lnSpc>
              <a:buNone/>
            </a:pPr>
            <a:r>
              <a:rPr lang="en-US" sz="1500" b="1" dirty="0">
                <a:solidFill>
                  <a:srgbClr val="C2C4B5"/>
                </a:solidFill>
                <a:latin typeface="Bitter" pitchFamily="34" charset="0"/>
                <a:ea typeface="Bitter" pitchFamily="34" charset="-122"/>
                <a:cs typeface="Bitter" pitchFamily="34" charset="-120"/>
              </a:rPr>
              <a:t>Searching is the process of finding a specific element in a dataset using techniques like linear or binary search, while a tree is a hierarchical data structure consisting of nodes with parent-child relationships, commonly used to represent structured data.</a:t>
            </a:r>
            <a:endParaRPr lang="en-US" sz="1500" dirty="0"/>
          </a:p>
        </p:txBody>
      </p:sp>
      <p:sp>
        <p:nvSpPr>
          <p:cNvPr id="4" name="Text 2"/>
          <p:cNvSpPr/>
          <p:nvPr/>
        </p:nvSpPr>
        <p:spPr>
          <a:xfrm>
            <a:off x="793790" y="2323624"/>
            <a:ext cx="13042821" cy="292894"/>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highlight>
                  <a:srgbClr val="292A2C"/>
                </a:highlight>
                <a:latin typeface="Consolas" pitchFamily="34" charset="0"/>
                <a:ea typeface="Consolas" pitchFamily="34" charset="-122"/>
                <a:cs typeface="Consolas" pitchFamily="34" charset="-120"/>
              </a:rPr>
              <a:t>for(int i = 0; i &lt; n; i++) </a:t>
            </a:r>
            <a:endParaRPr lang="en-US" sz="1500" dirty="0"/>
          </a:p>
        </p:txBody>
      </p:sp>
      <p:sp>
        <p:nvSpPr>
          <p:cNvPr id="5" name="Text 3"/>
          <p:cNvSpPr/>
          <p:nvPr/>
        </p:nvSpPr>
        <p:spPr>
          <a:xfrm>
            <a:off x="793790" y="2800826"/>
            <a:ext cx="13042821" cy="292894"/>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highlight>
                  <a:srgbClr val="292A2C"/>
                </a:highlight>
                <a:latin typeface="Consolas" pitchFamily="34" charset="0"/>
                <a:ea typeface="Consolas" pitchFamily="34" charset="-122"/>
                <a:cs typeface="Consolas" pitchFamily="34" charset="-120"/>
              </a:rPr>
              <a:t>if(arr[i] == key)</a:t>
            </a:r>
            <a:endParaRPr lang="en-US" sz="1500" dirty="0"/>
          </a:p>
        </p:txBody>
      </p:sp>
      <p:sp>
        <p:nvSpPr>
          <p:cNvPr id="6" name="Text 4"/>
          <p:cNvSpPr/>
          <p:nvPr/>
        </p:nvSpPr>
        <p:spPr>
          <a:xfrm>
            <a:off x="793790" y="3278029"/>
            <a:ext cx="13042821" cy="292894"/>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highlight>
                  <a:srgbClr val="292A2C"/>
                </a:highlight>
                <a:latin typeface="Consolas" pitchFamily="34" charset="0"/>
                <a:ea typeface="Consolas" pitchFamily="34" charset="-122"/>
                <a:cs typeface="Consolas" pitchFamily="34" charset="-120"/>
              </a:rPr>
              <a:t> return i;</a:t>
            </a:r>
            <a:endParaRPr lang="en-US" sz="1500" dirty="0"/>
          </a:p>
        </p:txBody>
      </p:sp>
      <p:sp>
        <p:nvSpPr>
          <p:cNvPr id="7" name="Text 5"/>
          <p:cNvSpPr/>
          <p:nvPr/>
        </p:nvSpPr>
        <p:spPr>
          <a:xfrm>
            <a:off x="793790" y="3755231"/>
            <a:ext cx="13042821" cy="292894"/>
          </a:xfrm>
          <a:prstGeom prst="rect">
            <a:avLst/>
          </a:prstGeom>
          <a:noFill/>
          <a:ln/>
        </p:spPr>
        <p:txBody>
          <a:bodyPr wrap="none" lIns="0" tIns="0" rIns="0" bIns="0" rtlCol="0" anchor="t"/>
          <a:lstStyle/>
          <a:p>
            <a:pPr marL="0" indent="0" algn="l">
              <a:lnSpc>
                <a:spcPts val="2200"/>
              </a:lnSpc>
              <a:buNone/>
            </a:pPr>
            <a:r>
              <a:rPr lang="en-US" sz="1500" dirty="0">
                <a:solidFill>
                  <a:srgbClr val="C2C4B5"/>
                </a:solidFill>
                <a:highlight>
                  <a:srgbClr val="292A2C"/>
                </a:highlight>
                <a:latin typeface="Consolas" pitchFamily="34" charset="0"/>
                <a:ea typeface="Consolas" pitchFamily="34" charset="-122"/>
                <a:cs typeface="Consolas" pitchFamily="34" charset="-120"/>
              </a:rPr>
              <a:t>struct Node { int data; Node* left; Node* right; };</a:t>
            </a:r>
            <a:endParaRPr lang="en-US" sz="1500" dirty="0"/>
          </a:p>
        </p:txBody>
      </p:sp>
      <p:sp>
        <p:nvSpPr>
          <p:cNvPr id="8" name="Text 6"/>
          <p:cNvSpPr/>
          <p:nvPr/>
        </p:nvSpPr>
        <p:spPr>
          <a:xfrm>
            <a:off x="9016603" y="4293870"/>
            <a:ext cx="4820007" cy="602456"/>
          </a:xfrm>
          <a:prstGeom prst="rect">
            <a:avLst/>
          </a:prstGeom>
          <a:noFill/>
          <a:ln/>
        </p:spPr>
        <p:txBody>
          <a:bodyPr wrap="none" lIns="0" tIns="0" rIns="0" bIns="0" rtlCol="0" anchor="t"/>
          <a:lstStyle/>
          <a:p>
            <a:pPr marL="0" indent="0" algn="r">
              <a:lnSpc>
                <a:spcPts val="4700"/>
              </a:lnSpc>
              <a:buNone/>
            </a:pPr>
            <a:r>
              <a:rPr lang="en-US" sz="3750" b="1" dirty="0">
                <a:solidFill>
                  <a:srgbClr val="E1E5CD"/>
                </a:solidFill>
                <a:latin typeface="Outfit Bold" pitchFamily="34" charset="0"/>
                <a:ea typeface="Outfit Bold" pitchFamily="34" charset="-122"/>
                <a:cs typeface="Outfit Bold" pitchFamily="34" charset="-120"/>
              </a:rPr>
              <a:t>Graph &amp; Hashing</a:t>
            </a:r>
            <a:endParaRPr lang="en-US" sz="3750" dirty="0"/>
          </a:p>
        </p:txBody>
      </p:sp>
      <p:sp>
        <p:nvSpPr>
          <p:cNvPr id="9" name="Text 7"/>
          <p:cNvSpPr/>
          <p:nvPr/>
        </p:nvSpPr>
        <p:spPr>
          <a:xfrm>
            <a:off x="793790" y="5142071"/>
            <a:ext cx="13042821" cy="285274"/>
          </a:xfrm>
          <a:prstGeom prst="rect">
            <a:avLst/>
          </a:prstGeom>
          <a:noFill/>
          <a:ln/>
        </p:spPr>
        <p:txBody>
          <a:bodyPr wrap="none" lIns="0" tIns="0" rIns="0" bIns="0" rtlCol="0" anchor="t"/>
          <a:lstStyle/>
          <a:p>
            <a:pPr marL="0" indent="0" algn="l">
              <a:lnSpc>
                <a:spcPts val="2200"/>
              </a:lnSpc>
              <a:buNone/>
            </a:pPr>
            <a:endParaRPr lang="en-US" sz="1500" dirty="0"/>
          </a:p>
        </p:txBody>
      </p:sp>
      <p:sp>
        <p:nvSpPr>
          <p:cNvPr id="10" name="Text 8"/>
          <p:cNvSpPr/>
          <p:nvPr/>
        </p:nvSpPr>
        <p:spPr>
          <a:xfrm>
            <a:off x="793790" y="5611654"/>
            <a:ext cx="13042821" cy="570548"/>
          </a:xfrm>
          <a:prstGeom prst="rect">
            <a:avLst/>
          </a:prstGeom>
          <a:noFill/>
          <a:ln/>
        </p:spPr>
        <p:txBody>
          <a:bodyPr wrap="square" lIns="0" tIns="0" rIns="0" bIns="0" rtlCol="0" anchor="t"/>
          <a:lstStyle/>
          <a:p>
            <a:pPr marL="0" indent="0" algn="r">
              <a:lnSpc>
                <a:spcPts val="2200"/>
              </a:lnSpc>
              <a:buNone/>
            </a:pPr>
            <a:r>
              <a:rPr lang="en-US" sz="1500" b="1" dirty="0">
                <a:solidFill>
                  <a:srgbClr val="C2C4B5"/>
                </a:solidFill>
                <a:latin typeface="Bitter" pitchFamily="34" charset="0"/>
                <a:ea typeface="Bitter" pitchFamily="34" charset="-122"/>
                <a:cs typeface="Bitter" pitchFamily="34" charset="-120"/>
              </a:rPr>
              <a:t>A graph is a data structure consisting of vertices and edges used to represent relationships such as networks, while hashing is a technique that maps keys to values using a hash function, allowing fast data access and retrieval.</a:t>
            </a:r>
            <a:endParaRPr lang="en-US" sz="1500" dirty="0"/>
          </a:p>
        </p:txBody>
      </p:sp>
      <p:sp>
        <p:nvSpPr>
          <p:cNvPr id="11" name="Text 9"/>
          <p:cNvSpPr/>
          <p:nvPr/>
        </p:nvSpPr>
        <p:spPr>
          <a:xfrm>
            <a:off x="793790" y="6366510"/>
            <a:ext cx="13042821" cy="285274"/>
          </a:xfrm>
          <a:prstGeom prst="rect">
            <a:avLst/>
          </a:prstGeom>
          <a:noFill/>
          <a:ln/>
        </p:spPr>
        <p:txBody>
          <a:bodyPr wrap="none" lIns="0" tIns="0" rIns="0" bIns="0" rtlCol="0" anchor="t"/>
          <a:lstStyle/>
          <a:p>
            <a:pPr marL="0" indent="0" algn="r">
              <a:lnSpc>
                <a:spcPts val="2200"/>
              </a:lnSpc>
              <a:buNone/>
            </a:pPr>
            <a:endParaRPr lang="en-US" sz="1500" dirty="0"/>
          </a:p>
        </p:txBody>
      </p:sp>
      <p:sp>
        <p:nvSpPr>
          <p:cNvPr id="12" name="Text 10"/>
          <p:cNvSpPr/>
          <p:nvPr/>
        </p:nvSpPr>
        <p:spPr>
          <a:xfrm>
            <a:off x="793790" y="6836093"/>
            <a:ext cx="13042821" cy="285274"/>
          </a:xfrm>
          <a:prstGeom prst="rect">
            <a:avLst/>
          </a:prstGeom>
          <a:noFill/>
          <a:ln/>
        </p:spPr>
        <p:txBody>
          <a:bodyPr wrap="none" lIns="0" tIns="0" rIns="0" bIns="0" rtlCol="0" anchor="t"/>
          <a:lstStyle/>
          <a:p>
            <a:pPr marL="0" indent="0" algn="r">
              <a:lnSpc>
                <a:spcPts val="2200"/>
              </a:lnSpc>
              <a:buNone/>
            </a:pPr>
            <a:endParaRPr lang="en-US" sz="1500" dirty="0"/>
          </a:p>
        </p:txBody>
      </p:sp>
      <p:sp>
        <p:nvSpPr>
          <p:cNvPr id="13" name="Text 11"/>
          <p:cNvSpPr/>
          <p:nvPr/>
        </p:nvSpPr>
        <p:spPr>
          <a:xfrm>
            <a:off x="793790" y="7305675"/>
            <a:ext cx="13042821" cy="285274"/>
          </a:xfrm>
          <a:prstGeom prst="rect">
            <a:avLst/>
          </a:prstGeom>
          <a:noFill/>
          <a:ln/>
        </p:spPr>
        <p:txBody>
          <a:bodyPr wrap="none" lIns="0" tIns="0" rIns="0" bIns="0" rtlCol="0" anchor="t"/>
          <a:lstStyle/>
          <a:p>
            <a:pPr marL="0" indent="0" algn="l">
              <a:lnSpc>
                <a:spcPts val="2200"/>
              </a:lnSpc>
              <a:buNone/>
            </a:pP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71049" y="864632"/>
            <a:ext cx="3737967" cy="447437"/>
          </a:xfrm>
          <a:prstGeom prst="rect">
            <a:avLst/>
          </a:prstGeom>
          <a:noFill/>
          <a:ln/>
        </p:spPr>
        <p:txBody>
          <a:bodyPr wrap="none" lIns="0" tIns="0" rIns="0" bIns="0" rtlCol="0" anchor="t"/>
          <a:lstStyle/>
          <a:p>
            <a:pPr marL="0" indent="0" algn="l">
              <a:lnSpc>
                <a:spcPts val="3500"/>
              </a:lnSpc>
              <a:buNone/>
            </a:pPr>
            <a:r>
              <a:rPr lang="en-US" sz="2800" b="1" dirty="0">
                <a:solidFill>
                  <a:srgbClr val="E1E5CD"/>
                </a:solidFill>
                <a:latin typeface="Outfit Bold" pitchFamily="34" charset="0"/>
                <a:ea typeface="Outfit Bold" pitchFamily="34" charset="-122"/>
                <a:cs typeface="Outfit Bold" pitchFamily="34" charset="-120"/>
              </a:rPr>
              <a:t>How the System Works</a:t>
            </a:r>
            <a:endParaRPr lang="en-US" sz="2800" dirty="0"/>
          </a:p>
        </p:txBody>
      </p:sp>
      <p:pic>
        <p:nvPicPr>
          <p:cNvPr id="3" name="Image 0" descr="preencoded.png"/>
          <p:cNvPicPr>
            <a:picLocks noChangeAspect="1"/>
          </p:cNvPicPr>
          <p:nvPr/>
        </p:nvPicPr>
        <p:blipFill>
          <a:blip r:embed="rId3"/>
          <a:stretch>
            <a:fillRect/>
          </a:stretch>
        </p:blipFill>
        <p:spPr>
          <a:xfrm>
            <a:off x="771049" y="1549241"/>
            <a:ext cx="715923" cy="973812"/>
          </a:xfrm>
          <a:prstGeom prst="rect">
            <a:avLst/>
          </a:prstGeom>
        </p:spPr>
      </p:pic>
      <p:sp>
        <p:nvSpPr>
          <p:cNvPr id="4" name="Text 1"/>
          <p:cNvSpPr/>
          <p:nvPr/>
        </p:nvSpPr>
        <p:spPr>
          <a:xfrm>
            <a:off x="1577340" y="1692354"/>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User Selection</a:t>
            </a:r>
            <a:endParaRPr lang="en-US" sz="1400" dirty="0"/>
          </a:p>
        </p:txBody>
      </p:sp>
      <p:sp>
        <p:nvSpPr>
          <p:cNvPr id="5" name="Text 2"/>
          <p:cNvSpPr/>
          <p:nvPr/>
        </p:nvSpPr>
        <p:spPr>
          <a:xfrm>
            <a:off x="1577340" y="2006322"/>
            <a:ext cx="3323034"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Customer or operator selects an option from the menu interface</a:t>
            </a:r>
            <a:endParaRPr lang="en-US" sz="1100" dirty="0"/>
          </a:p>
        </p:txBody>
      </p:sp>
      <p:pic>
        <p:nvPicPr>
          <p:cNvPr id="6" name="Image 1" descr="preencoded.png"/>
          <p:cNvPicPr>
            <a:picLocks noChangeAspect="1"/>
          </p:cNvPicPr>
          <p:nvPr/>
        </p:nvPicPr>
        <p:blipFill>
          <a:blip r:embed="rId4"/>
          <a:stretch>
            <a:fillRect/>
          </a:stretch>
        </p:blipFill>
        <p:spPr>
          <a:xfrm>
            <a:off x="771049" y="2523053"/>
            <a:ext cx="715923" cy="973812"/>
          </a:xfrm>
          <a:prstGeom prst="rect">
            <a:avLst/>
          </a:prstGeom>
        </p:spPr>
      </p:pic>
      <p:sp>
        <p:nvSpPr>
          <p:cNvPr id="7" name="Text 3"/>
          <p:cNvSpPr/>
          <p:nvPr/>
        </p:nvSpPr>
        <p:spPr>
          <a:xfrm>
            <a:off x="1577340" y="2666167"/>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Ticket Creation</a:t>
            </a:r>
            <a:endParaRPr lang="en-US" sz="1400" dirty="0"/>
          </a:p>
        </p:txBody>
      </p:sp>
      <p:sp>
        <p:nvSpPr>
          <p:cNvPr id="8" name="Text 4"/>
          <p:cNvSpPr/>
          <p:nvPr/>
        </p:nvSpPr>
        <p:spPr>
          <a:xfrm>
            <a:off x="1577340" y="2980134"/>
            <a:ext cx="3323034"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New ticket is generated and added to the queue's rear position</a:t>
            </a:r>
            <a:endParaRPr lang="en-US" sz="1100" dirty="0"/>
          </a:p>
        </p:txBody>
      </p:sp>
      <p:pic>
        <p:nvPicPr>
          <p:cNvPr id="9" name="Image 2" descr="preencoded.png"/>
          <p:cNvPicPr>
            <a:picLocks noChangeAspect="1"/>
          </p:cNvPicPr>
          <p:nvPr/>
        </p:nvPicPr>
        <p:blipFill>
          <a:blip r:embed="rId5"/>
          <a:stretch>
            <a:fillRect/>
          </a:stretch>
        </p:blipFill>
        <p:spPr>
          <a:xfrm>
            <a:off x="771049" y="3496866"/>
            <a:ext cx="715923" cy="973812"/>
          </a:xfrm>
          <a:prstGeom prst="rect">
            <a:avLst/>
          </a:prstGeom>
        </p:spPr>
      </p:pic>
      <p:sp>
        <p:nvSpPr>
          <p:cNvPr id="10" name="Text 5"/>
          <p:cNvSpPr/>
          <p:nvPr/>
        </p:nvSpPr>
        <p:spPr>
          <a:xfrm>
            <a:off x="1577340" y="3639979"/>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Service Processing</a:t>
            </a:r>
            <a:endParaRPr lang="en-US" sz="1400" dirty="0"/>
          </a:p>
        </p:txBody>
      </p:sp>
      <p:sp>
        <p:nvSpPr>
          <p:cNvPr id="11" name="Text 6"/>
          <p:cNvSpPr/>
          <p:nvPr/>
        </p:nvSpPr>
        <p:spPr>
          <a:xfrm>
            <a:off x="1577340" y="3953947"/>
            <a:ext cx="3323034"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Front ticket is removed from queue and served to customer</a:t>
            </a:r>
            <a:endParaRPr lang="en-US" sz="1100" dirty="0"/>
          </a:p>
        </p:txBody>
      </p:sp>
      <p:pic>
        <p:nvPicPr>
          <p:cNvPr id="12" name="Image 3" descr="preencoded.png"/>
          <p:cNvPicPr>
            <a:picLocks noChangeAspect="1"/>
          </p:cNvPicPr>
          <p:nvPr/>
        </p:nvPicPr>
        <p:blipFill>
          <a:blip r:embed="rId6"/>
          <a:stretch>
            <a:fillRect/>
          </a:stretch>
        </p:blipFill>
        <p:spPr>
          <a:xfrm>
            <a:off x="771049" y="4470678"/>
            <a:ext cx="715923" cy="973812"/>
          </a:xfrm>
          <a:prstGeom prst="rect">
            <a:avLst/>
          </a:prstGeom>
        </p:spPr>
      </p:pic>
      <p:sp>
        <p:nvSpPr>
          <p:cNvPr id="13" name="Text 7"/>
          <p:cNvSpPr/>
          <p:nvPr/>
        </p:nvSpPr>
        <p:spPr>
          <a:xfrm>
            <a:off x="1577340" y="4613791"/>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Queue Display</a:t>
            </a:r>
            <a:endParaRPr lang="en-US" sz="1400" dirty="0"/>
          </a:p>
        </p:txBody>
      </p:sp>
      <p:sp>
        <p:nvSpPr>
          <p:cNvPr id="14" name="Text 8"/>
          <p:cNvSpPr/>
          <p:nvPr/>
        </p:nvSpPr>
        <p:spPr>
          <a:xfrm>
            <a:off x="1577340" y="4927759"/>
            <a:ext cx="3323034"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All pending tickets shown in sequential order for transparency</a:t>
            </a:r>
            <a:endParaRPr lang="en-US" sz="1100" dirty="0"/>
          </a:p>
        </p:txBody>
      </p:sp>
      <p:sp>
        <p:nvSpPr>
          <p:cNvPr id="15" name="Text 9"/>
          <p:cNvSpPr/>
          <p:nvPr/>
        </p:nvSpPr>
        <p:spPr>
          <a:xfrm>
            <a:off x="5257324" y="1537930"/>
            <a:ext cx="4003834" cy="447437"/>
          </a:xfrm>
          <a:prstGeom prst="rect">
            <a:avLst/>
          </a:prstGeom>
          <a:noFill/>
          <a:ln/>
        </p:spPr>
        <p:txBody>
          <a:bodyPr wrap="none" lIns="0" tIns="0" rIns="0" bIns="0" rtlCol="0" anchor="t"/>
          <a:lstStyle/>
          <a:p>
            <a:pPr marL="0" indent="0" algn="l">
              <a:lnSpc>
                <a:spcPts val="3500"/>
              </a:lnSpc>
              <a:buNone/>
            </a:pPr>
            <a:r>
              <a:rPr lang="en-US" sz="2800" b="1" dirty="0">
                <a:solidFill>
                  <a:srgbClr val="E1E5CD"/>
                </a:solidFill>
                <a:latin typeface="Outfit Bold" pitchFamily="34" charset="0"/>
                <a:ea typeface="Outfit Bold" pitchFamily="34" charset="-122"/>
                <a:cs typeface="Outfit Bold" pitchFamily="34" charset="-120"/>
              </a:rPr>
              <a:t>Real-World Applications</a:t>
            </a:r>
            <a:endParaRPr lang="en-US" sz="2800" dirty="0"/>
          </a:p>
        </p:txBody>
      </p:sp>
      <p:pic>
        <p:nvPicPr>
          <p:cNvPr id="1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57324" y="2087047"/>
            <a:ext cx="357902" cy="357902"/>
          </a:xfrm>
          <a:prstGeom prst="rect">
            <a:avLst/>
          </a:prstGeom>
        </p:spPr>
      </p:pic>
      <p:sp>
        <p:nvSpPr>
          <p:cNvPr id="17" name="Text 10"/>
          <p:cNvSpPr/>
          <p:nvPr/>
        </p:nvSpPr>
        <p:spPr>
          <a:xfrm>
            <a:off x="5257324" y="2557939"/>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Bank Token Systems</a:t>
            </a:r>
            <a:endParaRPr lang="en-US" sz="1400" dirty="0"/>
          </a:p>
        </p:txBody>
      </p:sp>
      <p:sp>
        <p:nvSpPr>
          <p:cNvPr id="18" name="Text 11"/>
          <p:cNvSpPr/>
          <p:nvPr/>
        </p:nvSpPr>
        <p:spPr>
          <a:xfrm>
            <a:off x="5257324" y="2871907"/>
            <a:ext cx="4129326"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Manages customer queue at banking counters, ensuring fair service order</a:t>
            </a:r>
            <a:endParaRPr lang="en-US" sz="1100" dirty="0"/>
          </a:p>
        </p:txBody>
      </p:sp>
      <p:pic>
        <p:nvPicPr>
          <p:cNvPr id="1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57324" y="3426262"/>
            <a:ext cx="357902" cy="357902"/>
          </a:xfrm>
          <a:prstGeom prst="rect">
            <a:avLst/>
          </a:prstGeom>
        </p:spPr>
      </p:pic>
      <p:sp>
        <p:nvSpPr>
          <p:cNvPr id="20" name="Text 12"/>
          <p:cNvSpPr/>
          <p:nvPr/>
        </p:nvSpPr>
        <p:spPr>
          <a:xfrm>
            <a:off x="5257324" y="3897154"/>
            <a:ext cx="2462212"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Hospital Patient Management</a:t>
            </a:r>
            <a:endParaRPr lang="en-US" sz="1400" dirty="0"/>
          </a:p>
        </p:txBody>
      </p:sp>
      <p:sp>
        <p:nvSpPr>
          <p:cNvPr id="21" name="Text 13"/>
          <p:cNvSpPr/>
          <p:nvPr/>
        </p:nvSpPr>
        <p:spPr>
          <a:xfrm>
            <a:off x="5257324" y="4211122"/>
            <a:ext cx="4129326"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Organizes patient appointments and emergency room queues efficiently</a:t>
            </a:r>
            <a:endParaRPr lang="en-US" sz="1100" dirty="0"/>
          </a:p>
        </p:txBody>
      </p:sp>
      <p:pic>
        <p:nvPicPr>
          <p:cNvPr id="22" name="Image 6"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257324" y="4765477"/>
            <a:ext cx="357902" cy="357902"/>
          </a:xfrm>
          <a:prstGeom prst="rect">
            <a:avLst/>
          </a:prstGeom>
        </p:spPr>
      </p:pic>
      <p:sp>
        <p:nvSpPr>
          <p:cNvPr id="23" name="Text 14"/>
          <p:cNvSpPr/>
          <p:nvPr/>
        </p:nvSpPr>
        <p:spPr>
          <a:xfrm>
            <a:off x="5257324" y="5236369"/>
            <a:ext cx="1789867"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Customer Support</a:t>
            </a:r>
            <a:endParaRPr lang="en-US" sz="1400" dirty="0"/>
          </a:p>
        </p:txBody>
      </p:sp>
      <p:sp>
        <p:nvSpPr>
          <p:cNvPr id="24" name="Text 15"/>
          <p:cNvSpPr/>
          <p:nvPr/>
        </p:nvSpPr>
        <p:spPr>
          <a:xfrm>
            <a:off x="5257324" y="5550337"/>
            <a:ext cx="4129326"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Handles support ticket requests in order of arrival for technical assistance</a:t>
            </a:r>
            <a:endParaRPr lang="en-US" sz="1100" dirty="0"/>
          </a:p>
        </p:txBody>
      </p:sp>
      <p:pic>
        <p:nvPicPr>
          <p:cNvPr id="25" name="Image 7" descr="preencoded.png"/>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57324" y="6104692"/>
            <a:ext cx="357902" cy="357902"/>
          </a:xfrm>
          <a:prstGeom prst="rect">
            <a:avLst/>
          </a:prstGeom>
        </p:spPr>
      </p:pic>
      <p:sp>
        <p:nvSpPr>
          <p:cNvPr id="26" name="Text 16"/>
          <p:cNvSpPr/>
          <p:nvPr/>
        </p:nvSpPr>
        <p:spPr>
          <a:xfrm>
            <a:off x="5257324" y="6575584"/>
            <a:ext cx="1847731" cy="223599"/>
          </a:xfrm>
          <a:prstGeom prst="rect">
            <a:avLst/>
          </a:prstGeom>
          <a:noFill/>
          <a:ln/>
        </p:spPr>
        <p:txBody>
          <a:bodyPr wrap="none" lIns="0" tIns="0" rIns="0" bIns="0" rtlCol="0" anchor="t"/>
          <a:lstStyle/>
          <a:p>
            <a:pPr marL="0" indent="0" algn="l">
              <a:lnSpc>
                <a:spcPts val="1750"/>
              </a:lnSpc>
              <a:buNone/>
            </a:pPr>
            <a:r>
              <a:rPr lang="en-US" sz="1400" b="1" dirty="0">
                <a:solidFill>
                  <a:srgbClr val="C2C4B5"/>
                </a:solidFill>
                <a:latin typeface="Outfit Bold" pitchFamily="34" charset="0"/>
                <a:ea typeface="Outfit Bold" pitchFamily="34" charset="-122"/>
                <a:cs typeface="Outfit Bold" pitchFamily="34" charset="-120"/>
              </a:rPr>
              <a:t>Printer Job Scheduling</a:t>
            </a:r>
            <a:endParaRPr lang="en-US" sz="1400" dirty="0"/>
          </a:p>
        </p:txBody>
      </p:sp>
      <p:sp>
        <p:nvSpPr>
          <p:cNvPr id="27" name="Text 17"/>
          <p:cNvSpPr/>
          <p:nvPr/>
        </p:nvSpPr>
        <p:spPr>
          <a:xfrm>
            <a:off x="5257324" y="6889552"/>
            <a:ext cx="4129326" cy="373618"/>
          </a:xfrm>
          <a:prstGeom prst="rect">
            <a:avLst/>
          </a:prstGeom>
          <a:noFill/>
          <a:ln/>
        </p:spPr>
        <p:txBody>
          <a:bodyPr wrap="square" lIns="0" tIns="0" rIns="0" bIns="0" rtlCol="0" anchor="t"/>
          <a:lstStyle/>
          <a:p>
            <a:pPr marL="0" indent="0" algn="l">
              <a:lnSpc>
                <a:spcPts val="1450"/>
              </a:lnSpc>
              <a:buNone/>
            </a:pPr>
            <a:r>
              <a:rPr lang="en-US" sz="1100" dirty="0">
                <a:solidFill>
                  <a:srgbClr val="C2C4B5"/>
                </a:solidFill>
                <a:latin typeface="Bitter" pitchFamily="34" charset="0"/>
                <a:ea typeface="Bitter" pitchFamily="34" charset="-122"/>
                <a:cs typeface="Bitter" pitchFamily="34" charset="-120"/>
              </a:rPr>
              <a:t>Manages print jobs queue in computer systems for orderly processing</a:t>
            </a:r>
            <a:endParaRPr lang="en-US" sz="1100" dirty="0"/>
          </a:p>
        </p:txBody>
      </p:sp>
      <p:pic>
        <p:nvPicPr>
          <p:cNvPr id="28" name="Image 8" descr="preencoded.png"/>
          <p:cNvPicPr>
            <a:picLocks noChangeAspect="1"/>
          </p:cNvPicPr>
          <p:nvPr/>
        </p:nvPicPr>
        <p:blipFill>
          <a:blip r:embed="rId11"/>
          <a:stretch>
            <a:fillRect/>
          </a:stretch>
        </p:blipFill>
        <p:spPr>
          <a:xfrm>
            <a:off x="9743599" y="1549241"/>
            <a:ext cx="2684026" cy="5183148"/>
          </a:xfrm>
          <a:prstGeom prst="rect">
            <a:avLst/>
          </a:prstGeom>
        </p:spPr>
      </p:pic>
      <p:sp>
        <p:nvSpPr>
          <p:cNvPr id="29" name="Text 18"/>
          <p:cNvSpPr/>
          <p:nvPr/>
        </p:nvSpPr>
        <p:spPr>
          <a:xfrm>
            <a:off x="9743599" y="6834068"/>
            <a:ext cx="4129326" cy="186809"/>
          </a:xfrm>
          <a:prstGeom prst="rect">
            <a:avLst/>
          </a:prstGeom>
          <a:noFill/>
          <a:ln/>
        </p:spPr>
        <p:txBody>
          <a:bodyPr wrap="none" lIns="0" tIns="0" rIns="0" bIns="0" rtlCol="0" anchor="t"/>
          <a:lstStyle/>
          <a:p>
            <a:pPr marL="0" indent="0" algn="l">
              <a:lnSpc>
                <a:spcPts val="1450"/>
              </a:lnSpc>
              <a:buNone/>
            </a:pPr>
            <a:r>
              <a:rPr lang="en-US" sz="1100" b="1" dirty="0">
                <a:solidFill>
                  <a:srgbClr val="C2C4B5"/>
                </a:solidFill>
                <a:latin typeface="Bitter" pitchFamily="34" charset="0"/>
                <a:ea typeface="Bitter" pitchFamily="34" charset="-122"/>
                <a:cs typeface="Bitter" pitchFamily="34" charset="-120"/>
              </a:rPr>
              <a:t>      ———————————  OUTPUT ———————————</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93790" y="953929"/>
            <a:ext cx="3915013" cy="3915013"/>
          </a:xfrm>
          <a:prstGeom prst="rect">
            <a:avLst/>
          </a:prstGeom>
        </p:spPr>
      </p:pic>
      <p:sp>
        <p:nvSpPr>
          <p:cNvPr id="3" name="Text 0"/>
          <p:cNvSpPr/>
          <p:nvPr/>
        </p:nvSpPr>
        <p:spPr>
          <a:xfrm>
            <a:off x="793790" y="5099209"/>
            <a:ext cx="5387102" cy="673418"/>
          </a:xfrm>
          <a:prstGeom prst="rect">
            <a:avLst/>
          </a:prstGeom>
          <a:noFill/>
          <a:ln/>
        </p:spPr>
        <p:txBody>
          <a:bodyPr wrap="none" lIns="0" tIns="0" rIns="0" bIns="0" rtlCol="0" anchor="t"/>
          <a:lstStyle/>
          <a:p>
            <a:pPr marL="0" indent="0" algn="l">
              <a:lnSpc>
                <a:spcPts val="5300"/>
              </a:lnSpc>
              <a:buNone/>
            </a:pPr>
            <a:r>
              <a:rPr lang="en-US" sz="4200" b="1" dirty="0">
                <a:solidFill>
                  <a:srgbClr val="E1E5CD"/>
                </a:solidFill>
                <a:latin typeface="Outfit Bold" pitchFamily="34" charset="0"/>
                <a:ea typeface="Outfit Bold" pitchFamily="34" charset="-122"/>
                <a:cs typeface="Outfit Bold" pitchFamily="34" charset="-120"/>
              </a:rPr>
              <a:t>Objective</a:t>
            </a:r>
            <a:endParaRPr lang="en-US" sz="4200" dirty="0"/>
          </a:p>
        </p:txBody>
      </p:sp>
      <p:sp>
        <p:nvSpPr>
          <p:cNvPr id="4" name="Text 1"/>
          <p:cNvSpPr/>
          <p:nvPr/>
        </p:nvSpPr>
        <p:spPr>
          <a:xfrm>
            <a:off x="793790" y="5977295"/>
            <a:ext cx="6258520" cy="1344454"/>
          </a:xfrm>
          <a:prstGeom prst="rect">
            <a:avLst/>
          </a:prstGeom>
          <a:noFill/>
          <a:ln/>
        </p:spPr>
        <p:txBody>
          <a:bodyPr wrap="square" lIns="0" tIns="0" rIns="0" bIns="0" rtlCol="0" anchor="t"/>
          <a:lstStyle/>
          <a:p>
            <a:pPr marL="0" indent="0" algn="l">
              <a:lnSpc>
                <a:spcPts val="2600"/>
              </a:lnSpc>
              <a:buNone/>
            </a:pPr>
            <a:r>
              <a:rPr lang="en-US" sz="1650" b="1" dirty="0">
                <a:solidFill>
                  <a:srgbClr val="C2C4B5"/>
                </a:solidFill>
                <a:latin typeface="Bitter" pitchFamily="34" charset="0"/>
                <a:ea typeface="Bitter" pitchFamily="34" charset="-122"/>
                <a:cs typeface="Bitter" pitchFamily="34" charset="-120"/>
              </a:rPr>
              <a:t>The objective of this project is to implement a ticket management system using queue data structure in C++ to ensure fair and efficient processing of customers following the FIFO principle.</a:t>
            </a:r>
            <a:endParaRPr lang="en-US" sz="1650" dirty="0"/>
          </a:p>
        </p:txBody>
      </p:sp>
      <p:pic>
        <p:nvPicPr>
          <p:cNvPr id="5" name="Image 1" descr="preencoded.png"/>
          <p:cNvPicPr>
            <a:picLocks noChangeAspect="1"/>
          </p:cNvPicPr>
          <p:nvPr/>
        </p:nvPicPr>
        <p:blipFill>
          <a:blip r:embed="rId4"/>
          <a:stretch>
            <a:fillRect/>
          </a:stretch>
        </p:blipFill>
        <p:spPr>
          <a:xfrm>
            <a:off x="7585710" y="953929"/>
            <a:ext cx="3897630" cy="3897630"/>
          </a:xfrm>
          <a:prstGeom prst="rect">
            <a:avLst/>
          </a:prstGeom>
        </p:spPr>
      </p:pic>
      <p:sp>
        <p:nvSpPr>
          <p:cNvPr id="6" name="Text 2"/>
          <p:cNvSpPr/>
          <p:nvPr/>
        </p:nvSpPr>
        <p:spPr>
          <a:xfrm>
            <a:off x="7585710" y="5081826"/>
            <a:ext cx="5387102" cy="673418"/>
          </a:xfrm>
          <a:prstGeom prst="rect">
            <a:avLst/>
          </a:prstGeom>
          <a:noFill/>
          <a:ln/>
        </p:spPr>
        <p:txBody>
          <a:bodyPr wrap="none" lIns="0" tIns="0" rIns="0" bIns="0" rtlCol="0" anchor="t"/>
          <a:lstStyle/>
          <a:p>
            <a:pPr marL="0" indent="0" algn="l">
              <a:lnSpc>
                <a:spcPts val="5300"/>
              </a:lnSpc>
              <a:buNone/>
            </a:pPr>
            <a:r>
              <a:rPr lang="en-US" sz="4200" b="1" dirty="0">
                <a:solidFill>
                  <a:srgbClr val="E1E5CD"/>
                </a:solidFill>
                <a:latin typeface="Outfit Bold" pitchFamily="34" charset="0"/>
                <a:ea typeface="Outfit Bold" pitchFamily="34" charset="-122"/>
                <a:cs typeface="Outfit Bold" pitchFamily="34" charset="-120"/>
              </a:rPr>
              <a:t>Outcome</a:t>
            </a:r>
            <a:endParaRPr lang="en-US" sz="4200" dirty="0"/>
          </a:p>
        </p:txBody>
      </p:sp>
      <p:sp>
        <p:nvSpPr>
          <p:cNvPr id="7" name="Text 3"/>
          <p:cNvSpPr/>
          <p:nvPr/>
        </p:nvSpPr>
        <p:spPr>
          <a:xfrm>
            <a:off x="7585710" y="5959912"/>
            <a:ext cx="6258520" cy="1344454"/>
          </a:xfrm>
          <a:prstGeom prst="rect">
            <a:avLst/>
          </a:prstGeom>
          <a:noFill/>
          <a:ln/>
        </p:spPr>
        <p:txBody>
          <a:bodyPr wrap="square" lIns="0" tIns="0" rIns="0" bIns="0" rtlCol="0" anchor="t"/>
          <a:lstStyle/>
          <a:p>
            <a:pPr marL="0" indent="0" algn="l">
              <a:lnSpc>
                <a:spcPts val="2600"/>
              </a:lnSpc>
              <a:buNone/>
            </a:pPr>
            <a:r>
              <a:rPr lang="en-US" sz="1650" b="1" dirty="0">
                <a:solidFill>
                  <a:srgbClr val="C2C4B5"/>
                </a:solidFill>
                <a:latin typeface="Bitter" pitchFamily="34" charset="0"/>
                <a:ea typeface="Bitter" pitchFamily="34" charset="-122"/>
                <a:cs typeface="Bitter" pitchFamily="34" charset="-120"/>
              </a:rPr>
              <a:t>The outcome of this project is a working system that successfully manages customer tickets using queue operations, demonstrating the practical application of DSA concepts in real-world scenarios</a:t>
            </a:r>
            <a:endParaRPr lang="en-US" sz="1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1180</TotalTime>
  <Words>931</Words>
  <Application>Microsoft Office PowerPoint</Application>
  <PresentationFormat>Custom</PresentationFormat>
  <Paragraphs>76</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Outfit Bold</vt:lpstr>
      <vt:lpstr>Bitter</vt:lpstr>
      <vt:lpstr>Consolas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viswanath rao</cp:lastModifiedBy>
  <cp:revision>2</cp:revision>
  <dcterms:created xsi:type="dcterms:W3CDTF">2026-03-29T12:35:41Z</dcterms:created>
  <dcterms:modified xsi:type="dcterms:W3CDTF">2026-04-05T04:48:29Z</dcterms:modified>
</cp:coreProperties>
</file>